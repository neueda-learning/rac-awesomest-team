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1" r:id="rId11"/>
    <p:sldId id="263" r:id="rId12"/>
    <p:sldId id="265" r:id="rId13"/>
    <p:sldId id="264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Commits</c:f>
              <c:strCache>
                <c:ptCount val="1"/>
                <c:pt idx="0">
                  <c:v>Commits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B3A75"/>
              </a:solidFill>
              <a:ln w="19050">
                <a:solidFill>
                  <a:srgbClr val="FFFFFF"/>
                </a:solidFill>
                <a:prstDash val="solid"/>
              </a:ln>
            </c:spPr>
          </c:dPt>
          <c:dPt>
            <c:idx val="1"/>
            <c:bubble3D val="0"/>
            <c:spPr>
              <a:solidFill>
                <a:srgbClr val="E13B46"/>
              </a:solidFill>
              <a:ln w="19050">
                <a:solidFill>
                  <a:srgbClr val="FFFFFF"/>
                </a:solidFill>
                <a:prstDash val="solid"/>
              </a:ln>
            </c:spPr>
          </c:dPt>
          <c:dPt>
            <c:idx val="2"/>
            <c:bubble3D val="0"/>
            <c:spPr>
              <a:solidFill>
                <a:srgbClr val="65B7F3"/>
              </a:solidFill>
              <a:ln w="19050">
                <a:solidFill>
                  <a:srgbClr val="FFFFFF"/>
                </a:solidFill>
                <a:prstDash val="solid"/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{"Ray","Annie","Chase"}</c:f>
              <c:strCache>
                <c:ptCount val="3"/>
                <c:pt idx="0">
                  <c:v>Ray</c:v>
                </c:pt>
                <c:pt idx="1">
                  <c:v>Annie</c:v>
                </c:pt>
                <c:pt idx="2">
                  <c:v>Chase</c:v>
                </c:pt>
              </c:strCache>
            </c:strRef>
          </c:cat>
          <c:val>
            <c:numRef>
              <c:f>{19,18,16}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270"/>
      </c:pieChart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e9214be-6e02-4b7f-a194-a3d2ebbc49e5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讲解（约15秒）：大家好，我们是 RAC。今天我们会展示一个从交易进入、规则检测、生成告警，到调查与关闭的完整监控流程。</a:t>
            </a:r>
          </a:p>
          <a:p/>
          <a:p>
            <a:r>
              <a:t>转场：先介绍团队如何围绕这条完整链路进行分工。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- documents/transaction_monitoring.md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讲解（约40秒）：我们没有简单地按前端、后端切分，而是按业务纵向切片。Annie 负责交易入口，Chase 负责规则和检测，Ray 负责告警处理。每个人都覆盖数据、接口、页面和测试，最后汇入同一条端到端告警链路。</a:t>
            </a:r>
          </a:p>
          <a:p/>
          <a:p>
            <a:r>
              <a:t>转场：这种协作方式也体现在仓库的提交分布中。</a:t>
            </a:r>
          </a:p>
          <a:p/>
          <a:p>
            <a:r>
              <a:t>[Sources]</a:t>
            </a:r>
          </a:p>
          <a:p>
            <a:r>
              <a:t>- documents/division-of-labor.md</a:t>
            </a:r>
          </a:p>
          <a:p>
            <a:r>
              <a:t>- Git history: git log --all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讲解（约30秒）：Git 历史一共记录 53 次提交。我们把同一成员的不同 Git 名称合并后，Ray 19 次、Annie 18 次、Chase 16 次。这里包含 merge commit，只用于说明团队持续集成的参与度，不用来评价个人能力。</a:t>
            </a:r>
          </a:p>
          <a:p/>
          <a:p>
            <a:r>
              <a:t>操作提示：这是 PowerPoint 原生饼图，可以直接双击并修改数据。</a:t>
            </a:r>
          </a:p>
          <a:p/>
          <a:p>
            <a:r>
              <a:t>转场：这些提交围绕一个明确目标展开。</a:t>
            </a:r>
          </a:p>
          <a:p/>
          <a:p>
            <a:r>
              <a:t>[Sources]</a:t>
            </a:r>
          </a:p>
          <a:p>
            <a:r>
              <a:t>- Git history: git log --all</a:t>
            </a:r>
          </a:p>
          <a:p>
            <a:r>
              <a:t>- .tmp_rac_ppt/source-notes.txt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讲解（约40秒）：我们的目标不是只保存交易，而是把可疑行为转化为可以处理的调查任务。系统需要完成四步：接收交易、执行检测、产生告警、记录处理结果。仓库记录覆盖 7 月 24 日到 28 日。</a:t>
            </a:r>
          </a:p>
          <a:p/>
          <a:p>
            <a:r>
              <a:t>转场：下面先看当前版本已经覆盖了多少内容。</a:t>
            </a:r>
          </a:p>
          <a:p/>
          <a:p>
            <a:r>
              <a:t>[Sources]</a:t>
            </a:r>
          </a:p>
          <a:p>
            <a:r>
              <a:t>- documents/transaction_monitoring.md</a:t>
            </a:r>
          </a:p>
          <a:p>
            <a:r>
              <a:t>- README.md</a:t>
            </a:r>
          </a:p>
          <a:p>
            <a:r>
              <a:t>- Git history: git log --all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讲解（约40秒）：当前代码包含三个静态页面、26 个接口映射、五张数据库表、四种基础规则加一种组合模式，以及 17 个单元测试方法。这些数字不是性能指标，而是说明交易、规则、告警和审计已经形成可演示闭环。</a:t>
            </a:r>
          </a:p>
          <a:p/>
          <a:p>
            <a:r>
              <a:t>转场：这个闭环首先依赖数据模型把检测和调查分离。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- backend/src/main/resources/schema.sql</a:t>
            </a:r>
          </a:p>
          <a:p>
            <a:r>
              <a:t>- backend/src/main/java/com/example/monitoring/</a:t>
            </a:r>
          </a:p>
          <a:p>
            <a:r>
              <a:t>- backend/src/test/java/com/example/monitoring/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讲解（约55秒）：数据模型把检测结果和处理过程分开。Transaction 是输入，Monitoring Rule 和 Rule Condition 定义检测配置；Alert 连接触发它的交易和规则；Alert Status History 保存每次状态变化。这样既能追踪为什么产生告警，也能审计后来如何处理。</a:t>
            </a:r>
          </a:p>
          <a:p/>
          <a:p>
            <a:r>
              <a:t>需要强调：当前数据库已有 rule_condition，因此不能继续使用旧文档中的四表模型。</a:t>
            </a:r>
          </a:p>
          <a:p/>
          <a:p>
            <a:r>
              <a:t>转场：这些数据通过一个模块化单体架构连接起来。</a:t>
            </a:r>
          </a:p>
          <a:p/>
          <a:p>
            <a:r>
              <a:t>[Sources]</a:t>
            </a:r>
          </a:p>
          <a:p>
            <a:r>
              <a:t>- backend/src/main/resources/schema.sql</a:t>
            </a:r>
          </a:p>
          <a:p>
            <a:r>
              <a:t>- documents/database_er_diagram.md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讲解（约55秒）：系统采用模块化单体。浏览器页面调用 REST Controller，业务逻辑在 Service 层，规则引擎在交易保存后同步执行，最后通过 Spring Data JDBC 写入 MySQL。蓝色表示普通请求，红色表示生成告警。优点是链路清晰、容易演示；限制是规则评估会增加交易请求时间。</a:t>
            </a:r>
          </a:p>
          <a:p/>
          <a:p>
            <a:r>
              <a:t>转场：接下来具体看规则引擎如何做出判断。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- backend/src/main/java/com/example/monitoring/transaction/service/TransactionService.java</a:t>
            </a:r>
          </a:p>
          <a:p>
            <a:r>
              <a:t>- backend/src/main/java/com/example/monitoring/rule/service/RuleEngineService.java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 55 秒）：这一页补充交易模块。系统支持五种交易类型：SALARY、REFUND、TRANSFER_OUT、DEPOSIT 和 WITHDRAWAL。</a:t>
            </a:r>
          </a:p>
          <a:p/>
          <a:p>
            <a:r>
              <a:t>SALARY、REFUND 与 TRANSFER_OUT 必须提供收款人；DEPOSIT 和 WITHDRAWAL 不允许填写收款人。SALARY 与 REFUND 会在规则评估入口直接豁免，不生成告警。</a:t>
            </a:r>
          </a:p>
          <a:p/>
          <a:p>
            <a:r>
              <a:t>每笔交易保存金额、三位币种代码和交易类型。币种会转成大写，未提供时默认 USD。当前页面可直接选择 USD、GBP、EUR、CNY 和 JPY；模拟数据还会生成 AUD、CAD、HKD、SGD 和 CHF。</a:t>
            </a:r>
          </a:p>
          <a:p/>
          <a:p>
            <a:r>
              <a:t>多币种能力目前主要用于交易展示、总额和金额范围筛选：筛选时通过外部汇率换算为 USD，并使用五分钟缓存；汇率不可用时降级为只比较 USD 交易。</a:t>
            </a:r>
          </a:p>
          <a:p/>
          <a:p>
            <a:r>
              <a:t>需要明确当前边界：规则引擎的金额阈值和每日累计仍直接比较数据库中的原始数值，没有先做汇率归一化。因此现场演示继续使用 USD，不能宣称多币种告警判断已经完整实现。</a:t>
            </a:r>
          </a:p>
          <a:p/>
          <a:p/>
          <a:p/>
          <a:p>
            <a:r>
              <a:t>转场：交易被规范化并保存后，会同步进入前面介绍的规则引擎。</a:t>
            </a:r>
          </a:p>
          <a:p/>
          <a:p/>
          <a:p/>
          <a:p>
            <a:r>
              <a:t>[Sources]</a:t>
            </a:r>
          </a:p>
          <a:p/>
          <a:p>
            <a:r>
              <a:t>- backend/src/main/java/com/example/monitoring/transaction/entity/TransactionType.java</a:t>
            </a:r>
          </a:p>
          <a:p/>
          <a:p>
            <a:r>
              <a:t>- backend/src/main/java/com/example/monitoring/transaction/entity/Transaction.java</a:t>
            </a:r>
          </a:p>
          <a:p/>
          <a:p>
            <a:r>
              <a:t>- backend/src/main/java/com/example/monitoring/transaction/service/TransactionService.java</a:t>
            </a:r>
          </a:p>
          <a:p/>
          <a:p>
            <a:r>
              <a:t>- backend/src/main/java/com/example/monitoring/rule/service/RuleEngineService.java</a:t>
            </a:r>
          </a:p>
          <a:p/>
          <a:p>
            <a:r>
              <a:t>- backend/src/main/resources/static/transactions.html</a:t>
            </a:r>
          </a:p>
          <a:p/>
          <a:p>
            <a:r>
              <a:t>- backend/src/main/resources/schema.sql</a:t>
            </a:r>
          </a:p>
          <a:p/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讲解（约65秒）：每笔非豁免交易进入规则引擎后，系统只读取启用中的规则。四类基础规则分别检查金额、频率、新收款人和每日累计。组合规则可以用 AND 或 OR 连接条件，并支持营业时间外检测。命中后直接创建 OPEN 告警。</a:t>
            </a:r>
          </a:p>
          <a:p/>
          <a:p>
            <a:r>
              <a:t>技术口径：当前实现是集中式 switch 判断和数据库配置，不应描述为已经拆分完成的策略模式。</a:t>
            </a:r>
          </a:p>
          <a:p/>
          <a:p>
            <a:r>
              <a:t>转场：下面用一笔高金额的新收款人交易演示整个过程。</a:t>
            </a:r>
          </a:p>
          <a:p/>
          <a:p>
            <a:r>
              <a:t>[Sources]</a:t>
            </a:r>
          </a:p>
          <a:p>
            <a:r>
              <a:t>- backend/src/main/java/com/example/monitoring/rule/service/RuleEngineService.java</a:t>
            </a:r>
          </a:p>
          <a:p>
            <a:r>
              <a:t>- backend/src/main/java/com/example/monitoring/rule/entity/RuleCondition.java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讲解（约40秒）：告警不能任意修改状态。OPEN 只能先确认，确认后才能调查，只有 INVESTIGATING 才能关闭。确认或调查中的告警也可以被驳回。每次变化都会保存旧状态、新状态、备注和时间。</a:t>
            </a:r>
          </a:p>
          <a:p/>
          <a:p>
            <a:r>
              <a:t>这里要特别说明：README 中曾经允许从 ACKNOWLEDGED 直接关闭的描述已经过时，当前代码强制先调查。</a:t>
            </a:r>
          </a:p>
          <a:p/>
          <a:p>
            <a:r>
              <a:t>转场：接下来说明我们已经做了哪些性能考虑，以及目前的限制。</a:t>
            </a:r>
          </a:p>
          <a:p/>
          <a:p>
            <a:r>
              <a:t>[Sources]</a:t>
            </a:r>
          </a:p>
          <a:p>
            <a:r>
              <a:t>- backend/src/main/java/com/example/monitoring/alert/service/AlertService.java</a:t>
            </a:r>
          </a:p>
          <a:p>
            <a:r>
              <a:t>- documents/alert_lifecycle_fix_2026-07-28.md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现场演示（约2分30秒）：</a:t>
            </a:r>
          </a:p>
          <a:p>
            <a:r>
              <a:t>1. 打开规则页面，确认 High Value Transaction 与 New Payee 为 Active。</a:t>
            </a:r>
          </a:p>
          <a:p>
            <a:r>
              <a:t>2. 打开交易页面，提交唯一账户和唯一收款人，金额 15000 USD，类型 TRANSFER_OUT。</a:t>
            </a:r>
          </a:p>
          <a:p>
            <a:r>
              <a:t>3. 打开告警页面并刷新，找到刚刚生成的告警。</a:t>
            </a:r>
          </a:p>
          <a:p>
            <a:r>
              <a:t>4. 对一条告警依次执行 Acknowledge、Investigate、Close，最后打开 History。</a:t>
            </a:r>
          </a:p>
          <a:p/>
          <a:p>
            <a:r>
              <a:t>注意：不要展示 application.properties 或汇率 API 配置。如果现场服务失败，立即切换到截图或录屏。</a:t>
            </a:r>
          </a:p>
          <a:p/>
          <a:p>
            <a:r>
              <a:t>转场：演示中的每一步状态变化都由后端校验并保留审计记录。</a:t>
            </a:r>
          </a:p>
          <a:p/>
          <a:p>
            <a:r>
              <a:t>[Sources]</a:t>
            </a:r>
          </a:p>
          <a:p>
            <a:r>
              <a:t>- backend/src/main/resources/static/rule_engine.html</a:t>
            </a:r>
          </a:p>
          <a:p>
            <a:r>
              <a:t>- backend/src/main/resources/static/transactions.html</a:t>
            </a:r>
          </a:p>
          <a:p>
            <a:r>
              <a:t>- backend/src/main/resources/static/alerts.html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45秒）：我们已经减少了一些不必要工作，例如只读取启用规则、提前跳过豁免交易、为账户时间和收款人建立索引。交易筛选还使用了汇率缓存。但核心评估仍在交易请求内同步运行，而且历史规则会执行数据库查询。我们没有做吞吐基准，因此不会声称系统达到每秒一千笔。</a:t>
            </a:r>
          </a:p>
          <a:p/>
          <a:p>
            <a:r>
              <a:t>转场：很多进步并不是来自新功能，而是来自解决联调中的错误。</a:t>
            </a:r>
          </a:p>
          <a:p/>
          <a:p>
            <a:r>
              <a:t>[Sources]</a:t>
            </a:r>
          </a:p>
          <a:p>
            <a:r>
              <a:t>- backend/src/main/java/com/example/monitoring/rule/service/RuleEngineService.java</a:t>
            </a:r>
          </a:p>
          <a:p>
            <a:r>
              <a:t>- backend/src/main/java/com/example/monitoring/transaction/repository/TransactionRepository.java</a:t>
            </a:r>
          </a:p>
          <a:p>
            <a:r>
              <a:t>- backend/src/main/java/com/example/monitoring/transaction/service/TransactionService.java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50秒）：三个最有价值的教训都来自联调。第一，前后端字段名不一致会让功能看似存在但无法使用；第二，生命周期规则必须集中在后端服务层；第三，文档和代码可能在分支合并后漂移，所以最终事实必须回到 main 验证。此外我们也处理过合并冲突、端口释放和 JDK 配置问题。</a:t>
            </a:r>
          </a:p>
          <a:p/>
          <a:p>
            <a:r>
              <a:t>转场：因此我们在汇报中严格区分实现了什么，以及真正验证了什么。</a:t>
            </a:r>
          </a:p>
          <a:p/>
          <a:p>
            <a:r>
              <a:t>[Sources]</a:t>
            </a:r>
          </a:p>
          <a:p>
            <a:r>
              <a:t>- documents/rule_engine_frontend_bugfix.md</a:t>
            </a:r>
          </a:p>
          <a:p>
            <a:r>
              <a:t>- documents/alert_lifecycle_fix_2026-07-28.md</a:t>
            </a:r>
          </a:p>
          <a:p>
            <a:r>
              <a:t>- documents/port_release_troubleshooting.md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讲解（约45秒）：左边是代码中确实已经实现的闭环。中间是仓库里存在的 17 个测试方法。右边是我们暂时不能声称已经证明的内容：当前机器没有 Maven，因此没有重新运行测试；规则引擎中的多币种换算和吞吐量也没有在 main 中得到验证。这样的边界能让汇报更可信。</a:t>
            </a:r>
          </a:p>
          <a:p/>
          <a:p>
            <a:r>
              <a:t>转场：下一步先稳定基线，再测量，再扩展。</a:t>
            </a:r>
          </a:p>
          <a:p/>
          <a:p>
            <a:r>
              <a:t>[Sources]</a:t>
            </a:r>
          </a:p>
          <a:p>
            <a:r>
              <a:t>- backend/src/test/java/com/example/monitoring/</a:t>
            </a:r>
          </a:p>
          <a:p>
            <a:r>
              <a:t>- documents/multi_currency_fx_bugfix.md</a:t>
            </a:r>
          </a:p>
          <a:p>
            <a:r>
              <a:t>- Current environment inspection: Maven unavailable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45秒，三人各一句）：第一阶段先统一代码和文档、移除源码中的环境凭据并恢复可复现构建。第二阶段运行单元与集成测试，建立真实性能基准。第三阶段再缓存规则、减少查询并考虑异步处理。平台稳定后才增加鉴权、分派、通知和实时更新。</a:t>
            </a:r>
          </a:p>
          <a:p/>
          <a:p>
            <a:r>
              <a:t>转场：最后回到我们最初的问题。</a:t>
            </a:r>
          </a:p>
          <a:p/>
          <a:p>
            <a:r>
              <a:t>[Sources]</a:t>
            </a:r>
          </a:p>
          <a:p>
            <a:r>
              <a:t>- documents/module_completion_status.md</a:t>
            </a:r>
          </a:p>
          <a:p>
            <a:r>
              <a:t>- documents/transaction_monitoring.md</a:t>
            </a:r>
          </a:p>
          <a:p>
            <a:r>
              <a:t>- backend/src/main/java/com/example/monitoring/transaction/service/TransactionService.java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讲解（约15秒）：我们的成果不是三个孤立页面，而是一条可以追踪的完整链路：交易被接收、规则完成检测、告警被调查，处理历史被保存。感谢大家，我们现在欢迎提问。</a:t>
            </a:r>
          </a:p>
          <a:p/>
          <a:p>
            <a:r>
              <a:t>问答准备：规则引擎扩展方式、同步处理的性能限制、数据库索引、告警生命周期和下一步计划。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cover-blue-v"/>
          <p:cNvSpPr>
            <a:spLocks noGrp="1"/>
          </p:cNvSpPr>
          <p:nvPr/>
        </p:nvSpPr>
        <p:spPr>
          <a:xfrm>
            <a:off x="685800" y="666750"/>
            <a:ext cx="286" cy="4857750"/>
          </a:xfrm>
          <a:prstGeom prst="line">
            <a:avLst/>
          </a:prstGeom>
          <a:noFill/>
          <a:ln w="57150">
            <a:solidFill>
              <a:srgbClr val="1769E0"/>
            </a:solidFill>
            <a:prstDash val="solid"/>
          </a:ln>
        </p:spPr>
      </p:sp>
      <p:sp>
        <p:nvSpPr>
          <p:cNvPr id="2" name="cover-red-v"/>
          <p:cNvSpPr>
            <a:spLocks noGrp="1"/>
          </p:cNvSpPr>
          <p:nvPr/>
        </p:nvSpPr>
        <p:spPr>
          <a:xfrm>
            <a:off x="876300" y="666750"/>
            <a:ext cx="286" cy="3714750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3" name="cover-rac"/>
          <p:cNvSpPr>
            <a:spLocks noGrp="1"/>
          </p:cNvSpPr>
          <p:nvPr/>
        </p:nvSpPr>
        <p:spPr>
          <a:xfrm>
            <a:off x="1333500" y="685800"/>
            <a:ext cx="4857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1409700" y="2647950"/>
            <a:ext cx="876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2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</a:t>
            </a:r>
            <a:endParaRPr sz="42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42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2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 Alerts Dashboard</a:t>
            </a:r>
            <a:endParaRPr sz="42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cover-subtitle"/>
          <p:cNvSpPr>
            <a:spLocks noGrp="1"/>
          </p:cNvSpPr>
          <p:nvPr/>
        </p:nvSpPr>
        <p:spPr>
          <a:xfrm>
            <a:off x="1447800" y="4362450"/>
            <a:ext cx="657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0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0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Transaction to Resolution</a:t>
            </a:r>
            <a:endParaRPr sz="2100" b="0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cover-flow-blue"/>
          <p:cNvSpPr>
            <a:spLocks noGrp="1"/>
          </p:cNvSpPr>
          <p:nvPr/>
        </p:nvSpPr>
        <p:spPr>
          <a:xfrm>
            <a:off x="1447800" y="5143500"/>
            <a:ext cx="6096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7" name="cover-flow-red"/>
          <p:cNvSpPr>
            <a:spLocks noGrp="1"/>
          </p:cNvSpPr>
          <p:nvPr/>
        </p:nvSpPr>
        <p:spPr>
          <a:xfrm>
            <a:off x="7543800" y="5143500"/>
            <a:ext cx="22860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8" name="cover-team"/>
          <p:cNvSpPr>
            <a:spLocks noGrp="1"/>
          </p:cNvSpPr>
          <p:nvPr/>
        </p:nvSpPr>
        <p:spPr>
          <a:xfrm>
            <a:off x="1447800" y="54292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Annie · Chase · Ray</a:t>
            </a:r>
            <a:endParaRPr sz="13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cover-date"/>
          <p:cNvSpPr>
            <a:spLocks noGrp="1"/>
          </p:cNvSpPr>
          <p:nvPr/>
        </p:nvSpPr>
        <p:spPr>
          <a:xfrm>
            <a:off x="7239000" y="5429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Rehearsal · 29 July 2026</a:t>
            </a:r>
            <a:endParaRPr sz="120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RAC: Three Owners, One End-to-End Flow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team-stem-0"/>
          <p:cNvSpPr>
            <a:spLocks noGrp="1"/>
          </p:cNvSpPr>
          <p:nvPr/>
        </p:nvSpPr>
        <p:spPr>
          <a:xfrm>
            <a:off x="2305050" y="2133600"/>
            <a:ext cx="286" cy="2095500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6" name="team-name-0"/>
          <p:cNvSpPr>
            <a:spLocks noGrp="1"/>
          </p:cNvSpPr>
          <p:nvPr/>
        </p:nvSpPr>
        <p:spPr>
          <a:xfrm>
            <a:off x="876300" y="1752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ANNIE</a:t>
            </a:r>
            <a:endParaRPr sz="22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eam-box-0"/>
          <p:cNvSpPr>
            <a:spLocks noGrp="1"/>
          </p:cNvSpPr>
          <p:nvPr/>
        </p:nvSpPr>
        <p:spPr>
          <a:xfrm>
            <a:off x="876300" y="2381250"/>
            <a:ext cx="285750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8" name="team-box-0-text"/>
          <p:cNvSpPr>
            <a:spLocks noGrp="1"/>
          </p:cNvSpPr>
          <p:nvPr/>
        </p:nvSpPr>
        <p:spPr>
          <a:xfrm>
            <a:off x="990600" y="2457450"/>
            <a:ext cx="2628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Transactions</a:t>
            </a:r>
            <a:endParaRPr sz="21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am-detail-0"/>
          <p:cNvSpPr>
            <a:spLocks noGrp="1"/>
          </p:cNvSpPr>
          <p:nvPr/>
        </p:nvSpPr>
        <p:spPr>
          <a:xfrm>
            <a:off x="971550" y="35623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Capture · Search · Generate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am-stem-1"/>
          <p:cNvSpPr>
            <a:spLocks noGrp="1"/>
          </p:cNvSpPr>
          <p:nvPr/>
        </p:nvSpPr>
        <p:spPr>
          <a:xfrm>
            <a:off x="5772150" y="2133600"/>
            <a:ext cx="286" cy="2095500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11" name="team-name-1"/>
          <p:cNvSpPr>
            <a:spLocks noGrp="1"/>
          </p:cNvSpPr>
          <p:nvPr/>
        </p:nvSpPr>
        <p:spPr>
          <a:xfrm>
            <a:off x="4343400" y="1752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CHASE</a:t>
            </a:r>
            <a:endParaRPr sz="225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am-box-1"/>
          <p:cNvSpPr>
            <a:spLocks noGrp="1"/>
          </p:cNvSpPr>
          <p:nvPr/>
        </p:nvSpPr>
        <p:spPr>
          <a:xfrm>
            <a:off x="4343400" y="2381250"/>
            <a:ext cx="285750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13" name="team-box-1-text"/>
          <p:cNvSpPr>
            <a:spLocks noGrp="1"/>
          </p:cNvSpPr>
          <p:nvPr/>
        </p:nvSpPr>
        <p:spPr>
          <a:xfrm>
            <a:off x="4457700" y="2457450"/>
            <a:ext cx="2628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Rules</a:t>
            </a:r>
            <a:endParaRPr sz="21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am-detail-1"/>
          <p:cNvSpPr>
            <a:spLocks noGrp="1"/>
          </p:cNvSpPr>
          <p:nvPr/>
        </p:nvSpPr>
        <p:spPr>
          <a:xfrm>
            <a:off x="4438650" y="35623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Configure · Evaluate · Compose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am-stem-2"/>
          <p:cNvSpPr>
            <a:spLocks noGrp="1"/>
          </p:cNvSpPr>
          <p:nvPr/>
        </p:nvSpPr>
        <p:spPr>
          <a:xfrm>
            <a:off x="9239250" y="2133600"/>
            <a:ext cx="286" cy="2095500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16" name="team-name-2"/>
          <p:cNvSpPr>
            <a:spLocks noGrp="1"/>
          </p:cNvSpPr>
          <p:nvPr/>
        </p:nvSpPr>
        <p:spPr>
          <a:xfrm>
            <a:off x="7810500" y="17526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RAY</a:t>
            </a:r>
            <a:endParaRPr sz="22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am-box-2"/>
          <p:cNvSpPr>
            <a:spLocks noGrp="1"/>
          </p:cNvSpPr>
          <p:nvPr/>
        </p:nvSpPr>
        <p:spPr>
          <a:xfrm>
            <a:off x="7810500" y="2381250"/>
            <a:ext cx="2857500" cy="971550"/>
          </a:xfrm>
          <a:prstGeom prst="roundRect">
            <a:avLst>
              <a:gd name="adj" fmla="val 11765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8" name="team-box-2-text"/>
          <p:cNvSpPr>
            <a:spLocks noGrp="1"/>
          </p:cNvSpPr>
          <p:nvPr/>
        </p:nvSpPr>
        <p:spPr>
          <a:xfrm>
            <a:off x="7924800" y="2457450"/>
            <a:ext cx="2628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Alerts</a:t>
            </a:r>
            <a:endParaRPr sz="21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am-detail-2"/>
          <p:cNvSpPr>
            <a:spLocks noGrp="1"/>
          </p:cNvSpPr>
          <p:nvPr/>
        </p:nvSpPr>
        <p:spPr>
          <a:xfrm>
            <a:off x="7905750" y="35623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Prioritise · Investigate · Audit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am-alert-flow"/>
          <p:cNvSpPr>
            <a:spLocks noGrp="1"/>
          </p:cNvSpPr>
          <p:nvPr/>
        </p:nvSpPr>
        <p:spPr>
          <a:xfrm>
            <a:off x="3638550" y="4629150"/>
            <a:ext cx="4914900" cy="685800"/>
          </a:xfrm>
          <a:prstGeom prst="roundRect">
            <a:avLst>
              <a:gd name="adj" fmla="val 16667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21" name="team-alert-flow-text"/>
          <p:cNvSpPr>
            <a:spLocks noGrp="1"/>
          </p:cNvSpPr>
          <p:nvPr/>
        </p:nvSpPr>
        <p:spPr>
          <a:xfrm>
            <a:off x="3752850" y="4705350"/>
            <a:ext cx="4686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END-TO-END ALERT FLOW</a:t>
            </a:r>
            <a:endParaRPr sz="18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51" name="肘形连接符 50"/>
          <p:cNvCxnSpPr>
            <a:stCxn id="7" idx="2"/>
            <a:endCxn id="20" idx="0"/>
          </p:cNvCxnSpPr>
          <p:nvPr/>
        </p:nvCxnSpPr>
        <p:spPr>
          <a:xfrm>
            <a:off x="2305050" y="3352800"/>
            <a:ext cx="3790950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52" name="肘形连接符 51"/>
          <p:cNvCxnSpPr>
            <a:stCxn id="12" idx="2"/>
            <a:endCxn id="20" idx="0"/>
          </p:cNvCxnSpPr>
          <p:nvPr/>
        </p:nvCxnSpPr>
        <p:spPr>
          <a:xfrm>
            <a:off x="5772150" y="3352800"/>
            <a:ext cx="323850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53" name="肘形连接符 52"/>
          <p:cNvCxnSpPr>
            <a:stCxn id="17" idx="2"/>
            <a:endCxn id="20" idx="0"/>
          </p:cNvCxnSpPr>
          <p:nvPr/>
        </p:nvCxnSpPr>
        <p:spPr>
          <a:xfrm flipH="1">
            <a:off x="6096000" y="3352800"/>
            <a:ext cx="3143250" cy="1276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E13B46"/>
            </a:solidFill>
            <a:prstDash val="solid"/>
            <a:tailEnd type="arrow" w="med" len="med"/>
          </a:ln>
        </p:spPr>
      </p:cxnSp>
      <p:sp>
        <p:nvSpPr>
          <p:cNvPr id="25" name="team-principle"/>
          <p:cNvSpPr>
            <a:spLocks noGrp="1"/>
          </p:cNvSpPr>
          <p:nvPr/>
        </p:nvSpPr>
        <p:spPr>
          <a:xfrm>
            <a:off x="2857500" y="561975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Vertical ownership kept every module independently demonstrable.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7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Delivered 53 Commits as One Team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="666750" y="1733550"/>
          <a:ext cx="62865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commit-total"/>
          <p:cNvSpPr>
            <a:spLocks noGrp="1"/>
          </p:cNvSpPr>
          <p:nvPr/>
        </p:nvSpPr>
        <p:spPr>
          <a:xfrm>
            <a:off x="7810500" y="1809750"/>
            <a:ext cx="285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ctr">
              <a:defRPr sz="61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61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53</a:t>
            </a:r>
            <a:endParaRPr sz="61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commit-total-label"/>
          <p:cNvSpPr>
            <a:spLocks noGrp="1"/>
          </p:cNvSpPr>
          <p:nvPr/>
        </p:nvSpPr>
        <p:spPr>
          <a:xfrm>
            <a:off x="7810500" y="28575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TOTAL COMMITS</a:t>
            </a:r>
            <a:endParaRPr sz="15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mmit-swatch-0"/>
          <p:cNvSpPr>
            <a:spLocks noGrp="1"/>
          </p:cNvSpPr>
          <p:nvPr/>
        </p:nvSpPr>
        <p:spPr>
          <a:xfrm>
            <a:off x="7905750" y="36576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B3A75"/>
          </a:solidFill>
          <a:ln w="0">
            <a:solidFill>
              <a:srgbClr val="0B3A75"/>
            </a:solidFill>
            <a:prstDash val="solid"/>
          </a:ln>
        </p:spPr>
      </p:sp>
      <p:sp>
        <p:nvSpPr>
          <p:cNvPr id="9" name="commit-member-0"/>
          <p:cNvSpPr>
            <a:spLocks noGrp="1"/>
          </p:cNvSpPr>
          <p:nvPr/>
        </p:nvSpPr>
        <p:spPr>
          <a:xfrm>
            <a:off x="8248650" y="35814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Ray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mmit-count-0"/>
          <p:cNvSpPr>
            <a:spLocks noGrp="1"/>
          </p:cNvSpPr>
          <p:nvPr/>
        </p:nvSpPr>
        <p:spPr>
          <a:xfrm>
            <a:off x="9810750" y="35814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endParaRPr sz="18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commit-swatch-1"/>
          <p:cNvSpPr>
            <a:spLocks noGrp="1"/>
          </p:cNvSpPr>
          <p:nvPr/>
        </p:nvSpPr>
        <p:spPr>
          <a:xfrm>
            <a:off x="7905750" y="42672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13B46"/>
          </a:solidFill>
          <a:ln w="0">
            <a:solidFill>
              <a:srgbClr val="E13B46"/>
            </a:solidFill>
            <a:prstDash val="solid"/>
          </a:ln>
        </p:spPr>
      </p:sp>
      <p:sp>
        <p:nvSpPr>
          <p:cNvPr id="12" name="commit-member-1"/>
          <p:cNvSpPr>
            <a:spLocks noGrp="1"/>
          </p:cNvSpPr>
          <p:nvPr/>
        </p:nvSpPr>
        <p:spPr>
          <a:xfrm>
            <a:off x="8248650" y="41910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Annie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commit-count-1"/>
          <p:cNvSpPr>
            <a:spLocks noGrp="1"/>
          </p:cNvSpPr>
          <p:nvPr/>
        </p:nvSpPr>
        <p:spPr>
          <a:xfrm>
            <a:off x="9810750" y="41910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mmit-swatch-2"/>
          <p:cNvSpPr>
            <a:spLocks noGrp="1"/>
          </p:cNvSpPr>
          <p:nvPr/>
        </p:nvSpPr>
        <p:spPr>
          <a:xfrm>
            <a:off x="7905750" y="48768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65B7F3"/>
          </a:solidFill>
          <a:ln w="0">
            <a:solidFill>
              <a:srgbClr val="65B7F3"/>
            </a:solidFill>
            <a:prstDash val="solid"/>
          </a:ln>
        </p:spPr>
      </p:sp>
      <p:sp>
        <p:nvSpPr>
          <p:cNvPr id="15" name="commit-member-2"/>
          <p:cNvSpPr>
            <a:spLocks noGrp="1"/>
          </p:cNvSpPr>
          <p:nvPr/>
        </p:nvSpPr>
        <p:spPr>
          <a:xfrm>
            <a:off x="8248650" y="48006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Chase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commit-count-2"/>
          <p:cNvSpPr>
            <a:spLocks noGrp="1"/>
          </p:cNvSpPr>
          <p:nvPr/>
        </p:nvSpPr>
        <p:spPr>
          <a:xfrm>
            <a:off x="9810750" y="480060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00" b="1">
                <a:solidFill>
                  <a:srgbClr val="65B7F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65B7F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800" b="1">
              <a:solidFill>
                <a:srgbClr val="65B7F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commit-method"/>
          <p:cNvSpPr>
            <a:spLocks noGrp="1"/>
          </p:cNvSpPr>
          <p:nvPr/>
        </p:nvSpPr>
        <p:spPr>
          <a:xfrm>
            <a:off x="7524750" y="55054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Includes merge commits · author aliases grouped</a:t>
            </a:r>
            <a:endParaRPr sz="11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0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goal-window"/>
          <p:cNvSpPr>
            <a:spLocks noGrp="1"/>
          </p:cNvSpPr>
          <p:nvPr/>
        </p:nvSpPr>
        <p:spPr>
          <a:xfrm>
            <a:off x="911225" y="6019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Repository activity: 24–28 July 2026</a:t>
            </a:r>
            <a:endParaRPr sz="135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 Goal Was to Turn Transactions into Actionable Alerts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goal-lead"/>
          <p:cNvSpPr>
            <a:spLocks noGrp="1"/>
          </p:cNvSpPr>
          <p:nvPr/>
        </p:nvSpPr>
        <p:spPr>
          <a:xfrm>
            <a:off x="666750" y="1733550"/>
            <a:ext cx="685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suspicious transaction should not disappear into a database.</a:t>
            </a:r>
            <a:endParaRPr sz="25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goal-result"/>
          <p:cNvSpPr>
            <a:spLocks noGrp="1"/>
          </p:cNvSpPr>
          <p:nvPr/>
        </p:nvSpPr>
        <p:spPr>
          <a:xfrm>
            <a:off x="666750" y="2533650"/>
            <a:ext cx="723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It should become a prioritised, traceable investigation.</a:t>
            </a:r>
            <a:endParaRPr sz="22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goal-step-line-0"/>
          <p:cNvSpPr>
            <a:spLocks noGrp="1"/>
          </p:cNvSpPr>
          <p:nvPr/>
        </p:nvSpPr>
        <p:spPr>
          <a:xfrm>
            <a:off x="704850" y="3714750"/>
            <a:ext cx="228600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8" name="goal-step-no-0"/>
          <p:cNvSpPr>
            <a:spLocks noGrp="1"/>
          </p:cNvSpPr>
          <p:nvPr/>
        </p:nvSpPr>
        <p:spPr>
          <a:xfrm>
            <a:off x="704850" y="39052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goal-step-title-0"/>
          <p:cNvSpPr>
            <a:spLocks noGrp="1"/>
          </p:cNvSpPr>
          <p:nvPr/>
        </p:nvSpPr>
        <p:spPr>
          <a:xfrm>
            <a:off x="1257300" y="3867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CAPTURE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goal-step-body-0"/>
          <p:cNvSpPr>
            <a:spLocks noGrp="1"/>
          </p:cNvSpPr>
          <p:nvPr/>
        </p:nvSpPr>
        <p:spPr>
          <a:xfrm>
            <a:off x="704850" y="440055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Store and validate a transaction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goal-step-line-1"/>
          <p:cNvSpPr>
            <a:spLocks noGrp="1"/>
          </p:cNvSpPr>
          <p:nvPr/>
        </p:nvSpPr>
        <p:spPr>
          <a:xfrm>
            <a:off x="3486150" y="3714750"/>
            <a:ext cx="228600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2" name="goal-step-no-1"/>
          <p:cNvSpPr>
            <a:spLocks noGrp="1"/>
          </p:cNvSpPr>
          <p:nvPr/>
        </p:nvSpPr>
        <p:spPr>
          <a:xfrm>
            <a:off x="3486150" y="39052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goal-step-title-1"/>
          <p:cNvSpPr>
            <a:spLocks noGrp="1"/>
          </p:cNvSpPr>
          <p:nvPr/>
        </p:nvSpPr>
        <p:spPr>
          <a:xfrm>
            <a:off x="4038600" y="3867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DETECT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goal-step-body-1"/>
          <p:cNvSpPr>
            <a:spLocks noGrp="1"/>
          </p:cNvSpPr>
          <p:nvPr/>
        </p:nvSpPr>
        <p:spPr>
          <a:xfrm>
            <a:off x="3486150" y="440055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 active monitoring rules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goal-step-line-2"/>
          <p:cNvSpPr>
            <a:spLocks noGrp="1"/>
          </p:cNvSpPr>
          <p:nvPr/>
        </p:nvSpPr>
        <p:spPr>
          <a:xfrm>
            <a:off x="6267450" y="3714750"/>
            <a:ext cx="228600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16" name="goal-step-no-2"/>
          <p:cNvSpPr>
            <a:spLocks noGrp="1"/>
          </p:cNvSpPr>
          <p:nvPr/>
        </p:nvSpPr>
        <p:spPr>
          <a:xfrm>
            <a:off x="6267450" y="39052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goal-step-title-2"/>
          <p:cNvSpPr>
            <a:spLocks noGrp="1"/>
          </p:cNvSpPr>
          <p:nvPr/>
        </p:nvSpPr>
        <p:spPr>
          <a:xfrm>
            <a:off x="6819900" y="3867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goal-step-body-2"/>
          <p:cNvSpPr>
            <a:spLocks noGrp="1"/>
          </p:cNvSpPr>
          <p:nvPr/>
        </p:nvSpPr>
        <p:spPr>
          <a:xfrm>
            <a:off x="6267450" y="440055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a severity-ranked alert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goal-step-line-3"/>
          <p:cNvSpPr>
            <a:spLocks noGrp="1"/>
          </p:cNvSpPr>
          <p:nvPr/>
        </p:nvSpPr>
        <p:spPr>
          <a:xfrm>
            <a:off x="9048750" y="3714750"/>
            <a:ext cx="228600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20" name="goal-step-no-3"/>
          <p:cNvSpPr>
            <a:spLocks noGrp="1"/>
          </p:cNvSpPr>
          <p:nvPr/>
        </p:nvSpPr>
        <p:spPr>
          <a:xfrm>
            <a:off x="9048750" y="390525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goal-step-title-3"/>
          <p:cNvSpPr>
            <a:spLocks noGrp="1"/>
          </p:cNvSpPr>
          <p:nvPr/>
        </p:nvSpPr>
        <p:spPr>
          <a:xfrm>
            <a:off x="9601200" y="3867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RESOLVE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goal-step-body-3"/>
          <p:cNvSpPr>
            <a:spLocks noGrp="1"/>
          </p:cNvSpPr>
          <p:nvPr/>
        </p:nvSpPr>
        <p:spPr>
          <a:xfrm>
            <a:off x="9048750" y="4400550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Acknowledge, investigate and close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5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Current Build Covers the Full Monitoring Loop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stat-STATIC UI PAGES"/>
          <p:cNvSpPr>
            <a:spLocks noGrp="1"/>
          </p:cNvSpPr>
          <p:nvPr/>
        </p:nvSpPr>
        <p:spPr>
          <a:xfrm>
            <a:off x="742950" y="1866900"/>
            <a:ext cx="190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39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39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stat-label-STATIC UI PAGES"/>
          <p:cNvSpPr>
            <a:spLocks noGrp="1"/>
          </p:cNvSpPr>
          <p:nvPr/>
        </p:nvSpPr>
        <p:spPr>
          <a:xfrm>
            <a:off x="742950" y="260985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UI PAGES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stat-rule-STATIC UI PAGES"/>
          <p:cNvSpPr>
            <a:spLocks noGrp="1"/>
          </p:cNvSpPr>
          <p:nvPr/>
        </p:nvSpPr>
        <p:spPr>
          <a:xfrm>
            <a:off x="742950" y="3219450"/>
            <a:ext cx="17335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8" name="stat-ENDPOINT MAPPINGS"/>
          <p:cNvSpPr>
            <a:spLocks noGrp="1"/>
          </p:cNvSpPr>
          <p:nvPr/>
        </p:nvSpPr>
        <p:spPr>
          <a:xfrm>
            <a:off x="2914650" y="1866900"/>
            <a:ext cx="200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39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</a:t>
            </a:r>
            <a:endParaRPr sz="39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stat-label-ENDPOINT MAPPINGS"/>
          <p:cNvSpPr>
            <a:spLocks noGrp="1"/>
          </p:cNvSpPr>
          <p:nvPr/>
        </p:nvSpPr>
        <p:spPr>
          <a:xfrm>
            <a:off x="2914650" y="260985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ENDPOINT MAPPINGS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stat-rule-ENDPOINT MAPPINGS"/>
          <p:cNvSpPr>
            <a:spLocks noGrp="1"/>
          </p:cNvSpPr>
          <p:nvPr/>
        </p:nvSpPr>
        <p:spPr>
          <a:xfrm>
            <a:off x="2914650" y="3219450"/>
            <a:ext cx="1828800" cy="286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11" name="stat-DATABASE TABLES"/>
          <p:cNvSpPr>
            <a:spLocks noGrp="1"/>
          </p:cNvSpPr>
          <p:nvPr/>
        </p:nvSpPr>
        <p:spPr>
          <a:xfrm>
            <a:off x="5219700" y="1866900"/>
            <a:ext cx="190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39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39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stat-label-DATABASE TABLES"/>
          <p:cNvSpPr>
            <a:spLocks noGrp="1"/>
          </p:cNvSpPr>
          <p:nvPr/>
        </p:nvSpPr>
        <p:spPr>
          <a:xfrm>
            <a:off x="5219700" y="260985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TABLES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stat-rule-DATABASE TABLES"/>
          <p:cNvSpPr>
            <a:spLocks noGrp="1"/>
          </p:cNvSpPr>
          <p:nvPr/>
        </p:nvSpPr>
        <p:spPr>
          <a:xfrm>
            <a:off x="5219700" y="3219450"/>
            <a:ext cx="17335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14" name="stat-RULE MODES"/>
          <p:cNvSpPr>
            <a:spLocks noGrp="1"/>
          </p:cNvSpPr>
          <p:nvPr/>
        </p:nvSpPr>
        <p:spPr>
          <a:xfrm>
            <a:off x="7429500" y="1866900"/>
            <a:ext cx="190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39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4+1</a:t>
            </a:r>
            <a:endParaRPr sz="39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stat-label-RULE MODES"/>
          <p:cNvSpPr>
            <a:spLocks noGrp="1"/>
          </p:cNvSpPr>
          <p:nvPr/>
        </p:nvSpPr>
        <p:spPr>
          <a:xfrm>
            <a:off x="7429500" y="260985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MODES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stat-rule-RULE MODES"/>
          <p:cNvSpPr>
            <a:spLocks noGrp="1"/>
          </p:cNvSpPr>
          <p:nvPr/>
        </p:nvSpPr>
        <p:spPr>
          <a:xfrm>
            <a:off x="7429500" y="3219450"/>
            <a:ext cx="17335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7" name="stat-TEST METHODS"/>
          <p:cNvSpPr>
            <a:spLocks noGrp="1"/>
          </p:cNvSpPr>
          <p:nvPr/>
        </p:nvSpPr>
        <p:spPr>
          <a:xfrm>
            <a:off x="9639300" y="1866900"/>
            <a:ext cx="180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l">
              <a:defRPr sz="39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9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</a:t>
            </a:r>
            <a:endParaRPr sz="39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stat-label-TEST METHODS"/>
          <p:cNvSpPr>
            <a:spLocks noGrp="1"/>
          </p:cNvSpPr>
          <p:nvPr/>
        </p:nvSpPr>
        <p:spPr>
          <a:xfrm>
            <a:off x="9639300" y="26098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METHODS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stat-rule-TEST METHODS"/>
          <p:cNvSpPr>
            <a:spLocks noGrp="1"/>
          </p:cNvSpPr>
          <p:nvPr/>
        </p:nvSpPr>
        <p:spPr>
          <a:xfrm>
            <a:off x="9639300" y="3219450"/>
            <a:ext cx="1638300" cy="286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20" name="metrics-loop"/>
          <p:cNvSpPr>
            <a:spLocks noGrp="1"/>
          </p:cNvSpPr>
          <p:nvPr/>
        </p:nvSpPr>
        <p:spPr>
          <a:xfrm>
            <a:off x="762000" y="44196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Transactions</a:t>
            </a:r>
            <a:endParaRPr sz="18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metrics-arrow1"/>
          <p:cNvSpPr>
            <a:spLocks noGrp="1"/>
          </p:cNvSpPr>
          <p:nvPr/>
        </p:nvSpPr>
        <p:spPr>
          <a:xfrm>
            <a:off x="2628900" y="44196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metrics-rules"/>
          <p:cNvSpPr>
            <a:spLocks noGrp="1"/>
          </p:cNvSpPr>
          <p:nvPr/>
        </p:nvSpPr>
        <p:spPr>
          <a:xfrm>
            <a:off x="3257550" y="441960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Rules</a:t>
            </a:r>
            <a:endParaRPr sz="18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metrics-arrow2"/>
          <p:cNvSpPr>
            <a:spLocks noGrp="1"/>
          </p:cNvSpPr>
          <p:nvPr/>
        </p:nvSpPr>
        <p:spPr>
          <a:xfrm>
            <a:off x="4762500" y="44196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metrics-alerts"/>
          <p:cNvSpPr>
            <a:spLocks noGrp="1"/>
          </p:cNvSpPr>
          <p:nvPr/>
        </p:nvSpPr>
        <p:spPr>
          <a:xfrm>
            <a:off x="5410200" y="441960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Alerts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metrics-arrow3"/>
          <p:cNvSpPr>
            <a:spLocks noGrp="1"/>
          </p:cNvSpPr>
          <p:nvPr/>
        </p:nvSpPr>
        <p:spPr>
          <a:xfrm>
            <a:off x="7010400" y="44196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metrics-history"/>
          <p:cNvSpPr>
            <a:spLocks noGrp="1"/>
          </p:cNvSpPr>
          <p:nvPr/>
        </p:nvSpPr>
        <p:spPr>
          <a:xfrm>
            <a:off x="7658100" y="44196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Audit History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metrics-summary"/>
          <p:cNvSpPr>
            <a:spLocks noGrp="1"/>
          </p:cNvSpPr>
          <p:nvPr/>
        </p:nvSpPr>
        <p:spPr>
          <a:xfrm>
            <a:off x="2705100" y="5391150"/>
            <a:ext cx="6781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result is one demonstrable request-time monitoring flow.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9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Data Model Separates Detection from Investigation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er-transaction"/>
          <p:cNvSpPr>
            <a:spLocks noGrp="1"/>
          </p:cNvSpPr>
          <p:nvPr/>
        </p:nvSpPr>
        <p:spPr>
          <a:xfrm>
            <a:off x="685800" y="2343150"/>
            <a:ext cx="2571750" cy="1200150"/>
          </a:xfrm>
          <a:prstGeom prst="roundRect">
            <a:avLst>
              <a:gd name="adj" fmla="val 9524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6" name="er-transaction-text"/>
          <p:cNvSpPr>
            <a:spLocks noGrp="1"/>
          </p:cNvSpPr>
          <p:nvPr/>
        </p:nvSpPr>
        <p:spPr>
          <a:xfrm>
            <a:off x="800100" y="241935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 · account · payee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amount 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currency · created_at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er-rules"/>
          <p:cNvSpPr>
            <a:spLocks noGrp="1"/>
          </p:cNvSpPr>
          <p:nvPr/>
        </p:nvSpPr>
        <p:spPr>
          <a:xfrm>
            <a:off x="685800" y="4095750"/>
            <a:ext cx="2571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8" name="er-rules-text"/>
          <p:cNvSpPr>
            <a:spLocks noGrp="1"/>
          </p:cNvSpPr>
          <p:nvPr/>
        </p:nvSpPr>
        <p:spPr>
          <a:xfrm>
            <a:off x="800100" y="417195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MONITORING_RULE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 · type · severity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active · thresholds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er-conditions"/>
          <p:cNvSpPr>
            <a:spLocks noGrp="1"/>
          </p:cNvSpPr>
          <p:nvPr/>
        </p:nvSpPr>
        <p:spPr>
          <a:xfrm>
            <a:off x="4248150" y="4095750"/>
            <a:ext cx="2857500" cy="1200150"/>
          </a:xfrm>
          <a:prstGeom prst="roundRect">
            <a:avLst>
              <a:gd name="adj" fmla="val 9524"/>
            </a:avLst>
          </a:prstGeom>
          <a:solidFill>
            <a:srgbClr val="EAF4FF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0" name="er-conditions-text"/>
          <p:cNvSpPr>
            <a:spLocks noGrp="1"/>
          </p:cNvSpPr>
          <p:nvPr/>
        </p:nvSpPr>
        <p:spPr>
          <a:xfrm>
            <a:off x="4362450" y="4171950"/>
            <a:ext cx="2628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RULE_CONDITION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rule_id · condition_type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/ OR parameters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er-alert"/>
          <p:cNvSpPr>
            <a:spLocks noGrp="1"/>
          </p:cNvSpPr>
          <p:nvPr/>
        </p:nvSpPr>
        <p:spPr>
          <a:xfrm>
            <a:off x="4476750" y="2343150"/>
            <a:ext cx="2571750" cy="1200150"/>
          </a:xfrm>
          <a:prstGeom prst="roundRect">
            <a:avLst>
              <a:gd name="adj" fmla="val 9524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2" name="er-alert-text"/>
          <p:cNvSpPr>
            <a:spLocks noGrp="1"/>
          </p:cNvSpPr>
          <p:nvPr/>
        </p:nvSpPr>
        <p:spPr>
          <a:xfrm>
            <a:off x="4591050" y="2419350"/>
            <a:ext cx="2343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rule_i</a:t>
            </a:r>
            <a:r>
              <a:rPr lang="en-US"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transaction_id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severity · status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er-history"/>
          <p:cNvSpPr>
            <a:spLocks noGrp="1"/>
          </p:cNvSpPr>
          <p:nvPr/>
        </p:nvSpPr>
        <p:spPr>
          <a:xfrm>
            <a:off x="8286750" y="23431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4" name="er-history-text"/>
          <p:cNvSpPr>
            <a:spLocks noGrp="1"/>
          </p:cNvSpPr>
          <p:nvPr/>
        </p:nvSpPr>
        <p:spPr>
          <a:xfrm>
            <a:off x="8401050" y="2419350"/>
            <a:ext cx="2819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ALERT_STATUS_HISTORY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old_status · new_status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notes · changed_at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0" name="直接箭头连接符 39"/>
          <p:cNvCxnSpPr>
            <a:stCxn id="5" idx="3"/>
            <a:endCxn id="11" idx="1"/>
          </p:cNvCxnSpPr>
          <p:nvPr/>
        </p:nvCxnSpPr>
        <p:spPr>
          <a:xfrm>
            <a:off x="3257550" y="2943225"/>
            <a:ext cx="1219200" cy="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1" name="肘形连接符 40"/>
          <p:cNvCxnSpPr>
            <a:stCxn id="7" idx="0"/>
            <a:endCxn id="11" idx="2"/>
          </p:cNvCxnSpPr>
          <p:nvPr/>
        </p:nvCxnSpPr>
        <p:spPr>
          <a:xfrm flipV="1">
            <a:off x="1971675" y="3543300"/>
            <a:ext cx="3790950" cy="5524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B3A75"/>
            </a:solidFill>
            <a:prstDash val="solid"/>
            <a:tailEnd type="arrow" w="med" len="med"/>
          </a:ln>
        </p:spPr>
      </p:cxnSp>
      <p:cxnSp>
        <p:nvCxnSpPr>
          <p:cNvPr id="42" name="直接箭头连接符 41"/>
          <p:cNvCxnSpPr>
            <a:stCxn id="7" idx="3"/>
            <a:endCxn id="9" idx="1"/>
          </p:cNvCxnSpPr>
          <p:nvPr/>
        </p:nvCxnSpPr>
        <p:spPr>
          <a:xfrm>
            <a:off x="3257550" y="4695825"/>
            <a:ext cx="990600" cy="0"/>
          </a:xfrm>
          <a:prstGeom prst="straightConnector1">
            <a:avLst/>
          </a:prstGeom>
          <a:ln w="28575">
            <a:solidFill>
              <a:srgbClr val="65B7F3"/>
            </a:solidFill>
            <a:prstDash val="solid"/>
            <a:tailEnd type="arrow" w="med" len="med"/>
          </a:ln>
        </p:spPr>
      </p:cxnSp>
      <p:cxnSp>
        <p:nvCxnSpPr>
          <p:cNvPr id="43" name="直接箭头连接符 42"/>
          <p:cNvCxnSpPr>
            <a:stCxn id="11" idx="3"/>
            <a:endCxn id="13" idx="1"/>
          </p:cNvCxnSpPr>
          <p:nvPr/>
        </p:nvCxnSpPr>
        <p:spPr>
          <a:xfrm>
            <a:off x="7048500" y="2943225"/>
            <a:ext cx="1238250" cy="0"/>
          </a:xfrm>
          <a:prstGeom prst="straightConnector1">
            <a:avLst/>
          </a:prstGeom>
          <a:ln w="28575">
            <a:solidFill>
              <a:srgbClr val="E13B46"/>
            </a:solidFill>
            <a:prstDash val="solid"/>
            <a:tailEnd type="arrow" w="med" len="med"/>
          </a:ln>
        </p:spPr>
      </p:cxnSp>
      <p:sp>
        <p:nvSpPr>
          <p:cNvPr id="19" name="er-note1"/>
          <p:cNvSpPr>
            <a:spLocks noGrp="1"/>
          </p:cNvSpPr>
          <p:nvPr/>
        </p:nvSpPr>
        <p:spPr>
          <a:xfrm>
            <a:off x="685800" y="1752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transaction can trigger multiple alerts.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er-note2"/>
          <p:cNvSpPr>
            <a:spLocks noGrp="1"/>
          </p:cNvSpPr>
          <p:nvPr/>
        </p:nvSpPr>
        <p:spPr>
          <a:xfrm>
            <a:off x="8096250" y="1752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alert keeps a full status history.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er-decision"/>
          <p:cNvSpPr>
            <a:spLocks noGrp="1"/>
          </p:cNvSpPr>
          <p:nvPr/>
        </p:nvSpPr>
        <p:spPr>
          <a:xfrm>
            <a:off x="2743200" y="5695950"/>
            <a:ext cx="6705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 decision: alerts store the detection result; history stores the investigation trail.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3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Modular Monolith Keeps the Flow Simple and Traceable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arch-node-0"/>
          <p:cNvSpPr>
            <a:spLocks noGrp="1"/>
          </p:cNvSpPr>
          <p:nvPr/>
        </p:nvSpPr>
        <p:spPr>
          <a:xfrm>
            <a:off x="1981200" y="16573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6" name="arch-node-0-text"/>
          <p:cNvSpPr>
            <a:spLocks noGrp="1"/>
          </p:cNvSpPr>
          <p:nvPr/>
        </p:nvSpPr>
        <p:spPr>
          <a:xfrm>
            <a:off x="2095500" y="17335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HTML / JS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Three browser pages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arch-node-1"/>
          <p:cNvSpPr>
            <a:spLocks noGrp="1"/>
          </p:cNvSpPr>
          <p:nvPr/>
        </p:nvSpPr>
        <p:spPr>
          <a:xfrm>
            <a:off x="1981200" y="24955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8" name="arch-node-1-text"/>
          <p:cNvSpPr>
            <a:spLocks noGrp="1"/>
          </p:cNvSpPr>
          <p:nvPr/>
        </p:nvSpPr>
        <p:spPr>
          <a:xfrm>
            <a:off x="2095500" y="25717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 CONTROLLERS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Transactions · Rules · Alerts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arch-node-2"/>
          <p:cNvSpPr>
            <a:spLocks noGrp="1"/>
          </p:cNvSpPr>
          <p:nvPr/>
        </p:nvSpPr>
        <p:spPr>
          <a:xfrm>
            <a:off x="1981200" y="33337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10" name="arch-node-2-text"/>
          <p:cNvSpPr>
            <a:spLocks noGrp="1"/>
          </p:cNvSpPr>
          <p:nvPr/>
        </p:nvSpPr>
        <p:spPr>
          <a:xfrm>
            <a:off x="2095500" y="34099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 LAYER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Business validation and lifecycle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arch-node-3"/>
          <p:cNvSpPr>
            <a:spLocks noGrp="1"/>
          </p:cNvSpPr>
          <p:nvPr/>
        </p:nvSpPr>
        <p:spPr>
          <a:xfrm>
            <a:off x="1981200" y="41719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2" name="arch-node-3-text"/>
          <p:cNvSpPr>
            <a:spLocks noGrp="1"/>
          </p:cNvSpPr>
          <p:nvPr/>
        </p:nvSpPr>
        <p:spPr>
          <a:xfrm>
            <a:off x="2095500" y="42481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ENGINE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 active rules → create alert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arch-node-4"/>
          <p:cNvSpPr>
            <a:spLocks noGrp="1"/>
          </p:cNvSpPr>
          <p:nvPr/>
        </p:nvSpPr>
        <p:spPr>
          <a:xfrm>
            <a:off x="1981200" y="5010150"/>
            <a:ext cx="59055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14" name="arch-node-4-text"/>
          <p:cNvSpPr>
            <a:spLocks noGrp="1"/>
          </p:cNvSpPr>
          <p:nvPr/>
        </p:nvSpPr>
        <p:spPr>
          <a:xfrm>
            <a:off x="2095500" y="5086350"/>
            <a:ext cx="567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SPRING DATA JDBC + MYSQL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Repositories, indexes and audit data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2" name="直接箭头连接符 41"/>
          <p:cNvCxnSpPr>
            <a:stCxn id="5" idx="2"/>
            <a:endCxn id="7" idx="0"/>
          </p:cNvCxnSpPr>
          <p:nvPr/>
        </p:nvCxnSpPr>
        <p:spPr>
          <a:xfrm>
            <a:off x="4933950" y="2286000"/>
            <a:ext cx="0" cy="20955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3" name="直接箭头连接符 42"/>
          <p:cNvCxnSpPr>
            <a:stCxn id="7" idx="2"/>
            <a:endCxn id="9" idx="0"/>
          </p:cNvCxnSpPr>
          <p:nvPr/>
        </p:nvCxnSpPr>
        <p:spPr>
          <a:xfrm>
            <a:off x="4933950" y="3124200"/>
            <a:ext cx="0" cy="20955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4" name="直接箭头连接符 43"/>
          <p:cNvCxnSpPr>
            <a:stCxn id="9" idx="2"/>
            <a:endCxn id="11" idx="0"/>
          </p:cNvCxnSpPr>
          <p:nvPr/>
        </p:nvCxnSpPr>
        <p:spPr>
          <a:xfrm>
            <a:off x="4933950" y="3962400"/>
            <a:ext cx="0" cy="209550"/>
          </a:xfrm>
          <a:prstGeom prst="straightConnector1">
            <a:avLst/>
          </a:prstGeom>
          <a:ln w="38100">
            <a:solidFill>
              <a:srgbClr val="E13B46"/>
            </a:solidFill>
            <a:prstDash val="solid"/>
            <a:tailEnd type="arrow" w="med" len="med"/>
          </a:ln>
        </p:spPr>
      </p:cxnSp>
      <p:cxnSp>
        <p:nvCxnSpPr>
          <p:cNvPr id="45" name="直接箭头连接符 44"/>
          <p:cNvCxnSpPr>
            <a:stCxn id="11" idx="2"/>
            <a:endCxn id="13" idx="0"/>
          </p:cNvCxnSpPr>
          <p:nvPr/>
        </p:nvCxnSpPr>
        <p:spPr>
          <a:xfrm>
            <a:off x="4933950" y="4800600"/>
            <a:ext cx="0" cy="20955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sp>
        <p:nvSpPr>
          <p:cNvPr id="19" name="arch-req-line"/>
          <p:cNvSpPr>
            <a:spLocks noGrp="1"/>
          </p:cNvSpPr>
          <p:nvPr/>
        </p:nvSpPr>
        <p:spPr>
          <a:xfrm>
            <a:off x="8763000" y="1847850"/>
            <a:ext cx="286" cy="3095625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20" name="arch-req-label"/>
          <p:cNvSpPr>
            <a:spLocks noGrp="1"/>
          </p:cNvSpPr>
          <p:nvPr/>
        </p:nvSpPr>
        <p:spPr>
          <a:xfrm>
            <a:off x="9010650" y="2743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REQUEST FLOW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arch-alert-line"/>
          <p:cNvSpPr>
            <a:spLocks noGrp="1"/>
          </p:cNvSpPr>
          <p:nvPr/>
        </p:nvSpPr>
        <p:spPr>
          <a:xfrm>
            <a:off x="9191625" y="3733800"/>
            <a:ext cx="286" cy="1209675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22" name="arch-alert-label"/>
          <p:cNvSpPr>
            <a:spLocks noGrp="1"/>
          </p:cNvSpPr>
          <p:nvPr/>
        </p:nvSpPr>
        <p:spPr>
          <a:xfrm>
            <a:off x="9429750" y="4000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 CREATION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arch-tradeoff"/>
          <p:cNvSpPr>
            <a:spLocks noGrp="1"/>
          </p:cNvSpPr>
          <p:nvPr/>
        </p:nvSpPr>
        <p:spPr>
          <a:xfrm>
            <a:off x="2000250" y="5981700"/>
            <a:ext cx="752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trade-off: rule evaluation runs synchronously after each transaction is saved.</a:t>
            </a:r>
            <a:endParaRPr sz="13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5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Transactions Keep Type and Currency Explicit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type-salary"/>
          <p:cNvSpPr>
            <a:spLocks noGrp="1"/>
          </p:cNvSpPr>
          <p:nvPr/>
        </p:nvSpPr>
        <p:spPr>
          <a:xfrm>
            <a:off x="523875" y="17335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6" name="type-salary-heading"/>
          <p:cNvSpPr>
            <a:spLocks noGrp="1"/>
          </p:cNvSpPr>
          <p:nvPr/>
        </p:nvSpPr>
        <p:spPr>
          <a:xfrm>
            <a:off x="619125" y="1838325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SALARY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type-salary-detail"/>
          <p:cNvSpPr>
            <a:spLocks noGrp="1"/>
          </p:cNvSpPr>
          <p:nvPr/>
        </p:nvSpPr>
        <p:spPr>
          <a:xfrm>
            <a:off x="619125" y="2133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payee required · exempt</a:t>
            </a:r>
            <a:endParaRPr sz="10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ype-refund"/>
          <p:cNvSpPr>
            <a:spLocks noGrp="1"/>
          </p:cNvSpPr>
          <p:nvPr/>
        </p:nvSpPr>
        <p:spPr>
          <a:xfrm>
            <a:off x="2781300" y="17335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9" name="type-refund-heading"/>
          <p:cNvSpPr>
            <a:spLocks noGrp="1"/>
          </p:cNvSpPr>
          <p:nvPr/>
        </p:nvSpPr>
        <p:spPr>
          <a:xfrm>
            <a:off x="2876550" y="1838325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REFUND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ype-refund-detail"/>
          <p:cNvSpPr>
            <a:spLocks noGrp="1"/>
          </p:cNvSpPr>
          <p:nvPr/>
        </p:nvSpPr>
        <p:spPr>
          <a:xfrm>
            <a:off x="2876550" y="2133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payee required · exempt</a:t>
            </a:r>
            <a:endParaRPr sz="10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ype-transfer"/>
          <p:cNvSpPr>
            <a:spLocks noGrp="1"/>
          </p:cNvSpPr>
          <p:nvPr/>
        </p:nvSpPr>
        <p:spPr>
          <a:xfrm>
            <a:off x="5038725" y="17335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2" name="type-transfer-heading"/>
          <p:cNvSpPr>
            <a:spLocks noGrp="1"/>
          </p:cNvSpPr>
          <p:nvPr/>
        </p:nvSpPr>
        <p:spPr>
          <a:xfrm>
            <a:off x="5133975" y="1838325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TRANSFER_OUT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ype-transfer-detail"/>
          <p:cNvSpPr>
            <a:spLocks noGrp="1"/>
          </p:cNvSpPr>
          <p:nvPr/>
        </p:nvSpPr>
        <p:spPr>
          <a:xfrm>
            <a:off x="5133975" y="2133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payee required</a:t>
            </a:r>
            <a:endParaRPr sz="10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ype-deposit"/>
          <p:cNvSpPr>
            <a:spLocks noGrp="1"/>
          </p:cNvSpPr>
          <p:nvPr/>
        </p:nvSpPr>
        <p:spPr>
          <a:xfrm>
            <a:off x="7296150" y="17335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5" name="type-deposit-heading"/>
          <p:cNvSpPr>
            <a:spLocks noGrp="1"/>
          </p:cNvSpPr>
          <p:nvPr/>
        </p:nvSpPr>
        <p:spPr>
          <a:xfrm>
            <a:off x="7391400" y="1838325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DEPOSIT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ype-deposit-detail"/>
          <p:cNvSpPr>
            <a:spLocks noGrp="1"/>
          </p:cNvSpPr>
          <p:nvPr/>
        </p:nvSpPr>
        <p:spPr>
          <a:xfrm>
            <a:off x="7391400" y="2133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payee must be empty</a:t>
            </a:r>
            <a:endParaRPr sz="10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ype-withdrawal"/>
          <p:cNvSpPr>
            <a:spLocks noGrp="1"/>
          </p:cNvSpPr>
          <p:nvPr/>
        </p:nvSpPr>
        <p:spPr>
          <a:xfrm>
            <a:off x="9553575" y="17335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8" name="type-withdrawal-heading"/>
          <p:cNvSpPr>
            <a:spLocks noGrp="1"/>
          </p:cNvSpPr>
          <p:nvPr/>
        </p:nvSpPr>
        <p:spPr>
          <a:xfrm>
            <a:off x="9648825" y="1838325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WITHDRAWAL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ype-withdrawal-detail"/>
          <p:cNvSpPr>
            <a:spLocks noGrp="1"/>
          </p:cNvSpPr>
          <p:nvPr/>
        </p:nvSpPr>
        <p:spPr>
          <a:xfrm>
            <a:off x="9648825" y="2133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payee must be empty</a:t>
            </a:r>
            <a:endParaRPr sz="10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flow-input"/>
          <p:cNvSpPr>
            <a:spLocks noGrp="1"/>
          </p:cNvSpPr>
          <p:nvPr/>
        </p:nvSpPr>
        <p:spPr>
          <a:xfrm>
            <a:off x="523875" y="3105150"/>
            <a:ext cx="2238375" cy="1028700"/>
          </a:xfrm>
          <a:prstGeom prst="roundRect">
            <a:avLst>
              <a:gd name="adj" fmla="val 11111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21" name="flow-input-heading"/>
          <p:cNvSpPr>
            <a:spLocks noGrp="1"/>
          </p:cNvSpPr>
          <p:nvPr/>
        </p:nvSpPr>
        <p:spPr>
          <a:xfrm>
            <a:off x="657225" y="3257550"/>
            <a:ext cx="1971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INPUT</a:t>
            </a:r>
            <a:endParaRPr sz="14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flow-input-detail"/>
          <p:cNvSpPr>
            <a:spLocks noGrp="1"/>
          </p:cNvSpPr>
          <p:nvPr/>
        </p:nvSpPr>
        <p:spPr>
          <a:xfrm>
            <a:off x="666750" y="36195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account · amount · currency · type</a:t>
            </a:r>
            <a:endParaRPr sz="10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flow-validate"/>
          <p:cNvSpPr>
            <a:spLocks noGrp="1"/>
          </p:cNvSpPr>
          <p:nvPr/>
        </p:nvSpPr>
        <p:spPr>
          <a:xfrm>
            <a:off x="3476625" y="3105150"/>
            <a:ext cx="223837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24" name="flow-validate-heading"/>
          <p:cNvSpPr>
            <a:spLocks noGrp="1"/>
          </p:cNvSpPr>
          <p:nvPr/>
        </p:nvSpPr>
        <p:spPr>
          <a:xfrm>
            <a:off x="3609975" y="3257550"/>
            <a:ext cx="1971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NORMALIZE &amp; VALIDATE</a:t>
            </a:r>
            <a:endParaRPr sz="14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flow-validate-detail"/>
          <p:cNvSpPr>
            <a:spLocks noGrp="1"/>
          </p:cNvSpPr>
          <p:nvPr/>
        </p:nvSpPr>
        <p:spPr>
          <a:xfrm>
            <a:off x="3619500" y="36195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uppercase currency · validate payee</a:t>
            </a:r>
            <a:endParaRPr sz="10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flow-save"/>
          <p:cNvSpPr>
            <a:spLocks noGrp="1"/>
          </p:cNvSpPr>
          <p:nvPr/>
        </p:nvSpPr>
        <p:spPr>
          <a:xfrm>
            <a:off x="6429375" y="3105150"/>
            <a:ext cx="223837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27" name="flow-save-heading"/>
          <p:cNvSpPr>
            <a:spLocks noGrp="1"/>
          </p:cNvSpPr>
          <p:nvPr/>
        </p:nvSpPr>
        <p:spPr>
          <a:xfrm>
            <a:off x="6562725" y="3257550"/>
            <a:ext cx="1971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SAVE TO MYSQL</a:t>
            </a:r>
            <a:endParaRPr sz="14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low-save-detail"/>
          <p:cNvSpPr>
            <a:spLocks noGrp="1"/>
          </p:cNvSpPr>
          <p:nvPr/>
        </p:nvSpPr>
        <p:spPr>
          <a:xfrm>
            <a:off x="6572250" y="36195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preserve amount, currency and type</a:t>
            </a:r>
            <a:endParaRPr sz="10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flow-evaluate"/>
          <p:cNvSpPr>
            <a:spLocks noGrp="1"/>
          </p:cNvSpPr>
          <p:nvPr/>
        </p:nvSpPr>
        <p:spPr>
          <a:xfrm>
            <a:off x="9382125" y="3105150"/>
            <a:ext cx="2238375" cy="1028700"/>
          </a:xfrm>
          <a:prstGeom prst="roundRect">
            <a:avLst>
              <a:gd name="adj" fmla="val 11111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30" name="flow-evaluate-heading"/>
          <p:cNvSpPr>
            <a:spLocks noGrp="1"/>
          </p:cNvSpPr>
          <p:nvPr/>
        </p:nvSpPr>
        <p:spPr>
          <a:xfrm>
            <a:off x="9515475" y="3257550"/>
            <a:ext cx="19716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EVALUATION</a:t>
            </a:r>
            <a:endParaRPr sz="142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flow-evaluate-detail"/>
          <p:cNvSpPr>
            <a:spLocks noGrp="1"/>
          </p:cNvSpPr>
          <p:nvPr/>
        </p:nvSpPr>
        <p:spPr>
          <a:xfrm>
            <a:off x="9525000" y="3619500"/>
            <a:ext cx="1952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synchronous after save</a:t>
            </a:r>
            <a:endParaRPr sz="10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77" name="直接箭头连接符 76"/>
          <p:cNvCxnSpPr>
            <a:stCxn id="20" idx="3"/>
            <a:endCxn id="23" idx="1"/>
          </p:cNvCxnSpPr>
          <p:nvPr/>
        </p:nvCxnSpPr>
        <p:spPr>
          <a:xfrm>
            <a:off x="2762250" y="3619500"/>
            <a:ext cx="714375" cy="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78" name="直接箭头连接符 77"/>
          <p:cNvCxnSpPr>
            <a:stCxn id="23" idx="3"/>
            <a:endCxn id="26" idx="1"/>
          </p:cNvCxnSpPr>
          <p:nvPr/>
        </p:nvCxnSpPr>
        <p:spPr>
          <a:xfrm>
            <a:off x="5715000" y="3619500"/>
            <a:ext cx="714375" cy="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79" name="直接箭头连接符 78"/>
          <p:cNvCxnSpPr>
            <a:stCxn id="26" idx="3"/>
            <a:endCxn id="29" idx="1"/>
          </p:cNvCxnSpPr>
          <p:nvPr/>
        </p:nvCxnSpPr>
        <p:spPr>
          <a:xfrm>
            <a:off x="8667750" y="3619500"/>
            <a:ext cx="714375" cy="0"/>
          </a:xfrm>
          <a:prstGeom prst="straightConnector1">
            <a:avLst/>
          </a:prstGeom>
          <a:ln w="38100">
            <a:solidFill>
              <a:srgbClr val="E13B46"/>
            </a:solidFill>
            <a:prstDash val="solid"/>
            <a:tailEnd type="arrow" w="med" len="med"/>
          </a:ln>
        </p:spPr>
      </p:cxnSp>
      <p:sp>
        <p:nvSpPr>
          <p:cNvPr id="35" name="currency-panel"/>
          <p:cNvSpPr>
            <a:spLocks noGrp="1"/>
          </p:cNvSpPr>
          <p:nvPr/>
        </p:nvSpPr>
        <p:spPr>
          <a:xfrm>
            <a:off x="666750" y="4667250"/>
            <a:ext cx="10981690" cy="1219200"/>
          </a:xfrm>
          <a:prstGeom prst="roundRect">
            <a:avLst>
              <a:gd name="adj" fmla="val 7813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36" name="currency-title"/>
          <p:cNvSpPr>
            <a:spLocks noGrp="1"/>
          </p:cNvSpPr>
          <p:nvPr/>
        </p:nvSpPr>
        <p:spPr>
          <a:xfrm>
            <a:off x="876300" y="4819650"/>
            <a:ext cx="1021905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MULTI-CURRENCY TRANSACTION SUPPORT</a:t>
            </a:r>
            <a:endParaRPr sz="15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currency-codes"/>
          <p:cNvSpPr>
            <a:spLocks noGrp="1"/>
          </p:cNvSpPr>
          <p:nvPr/>
        </p:nvSpPr>
        <p:spPr>
          <a:xfrm>
            <a:off x="876300" y="5162550"/>
            <a:ext cx="102190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USD  ·  GBP  ·  EUR  ·  CNY  ·  JPY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currency-detail"/>
          <p:cNvSpPr>
            <a:spLocks noGrp="1"/>
          </p:cNvSpPr>
          <p:nvPr/>
        </p:nvSpPr>
        <p:spPr>
          <a:xfrm>
            <a:off x="876300" y="5505450"/>
            <a:ext cx="1021905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Amount-range filtering converts values to USD; FX rates are cached for 5 minutes.</a:t>
            </a:r>
            <a:endParaRPr sz="120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43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Rules Are Configurable, Composable and Evaluated per Transaction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rule-tx"/>
          <p:cNvSpPr>
            <a:spLocks noGrp="1"/>
          </p:cNvSpPr>
          <p:nvPr/>
        </p:nvSpPr>
        <p:spPr>
          <a:xfrm>
            <a:off x="552450" y="3048000"/>
            <a:ext cx="2038350" cy="80010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6" name="rule-tx-text"/>
          <p:cNvSpPr>
            <a:spLocks noGrp="1"/>
          </p:cNvSpPr>
          <p:nvPr/>
        </p:nvSpPr>
        <p:spPr>
          <a:xfrm>
            <a:off x="666750" y="3124200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ule-engine"/>
          <p:cNvSpPr>
            <a:spLocks noGrp="1"/>
          </p:cNvSpPr>
          <p:nvPr/>
        </p:nvSpPr>
        <p:spPr>
          <a:xfrm>
            <a:off x="4953000" y="2781300"/>
            <a:ext cx="22860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8" name="rule-engine-text"/>
          <p:cNvSpPr>
            <a:spLocks noGrp="1"/>
          </p:cNvSpPr>
          <p:nvPr/>
        </p:nvSpPr>
        <p:spPr>
          <a:xfrm>
            <a:off x="5067300" y="2857500"/>
            <a:ext cx="20574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ENGINE</a:t>
            </a:r>
            <a:endParaRPr sz="18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8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active rules only</a:t>
            </a:r>
            <a:endParaRPr sz="18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ule-alert"/>
          <p:cNvSpPr>
            <a:spLocks noGrp="1"/>
          </p:cNvSpPr>
          <p:nvPr/>
        </p:nvSpPr>
        <p:spPr>
          <a:xfrm>
            <a:off x="9667875" y="3048000"/>
            <a:ext cx="1809750" cy="800100"/>
          </a:xfrm>
          <a:prstGeom prst="roundRect">
            <a:avLst>
              <a:gd name="adj" fmla="val 14286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0" name="rule-alert-text"/>
          <p:cNvSpPr>
            <a:spLocks noGrp="1"/>
          </p:cNvSpPr>
          <p:nvPr/>
        </p:nvSpPr>
        <p:spPr>
          <a:xfrm>
            <a:off x="9782175" y="3124200"/>
            <a:ext cx="1581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 ALERT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9" name="直接箭头连接符 38"/>
          <p:cNvCxnSpPr>
            <a:stCxn id="5" idx="3"/>
            <a:endCxn id="7" idx="1"/>
          </p:cNvCxnSpPr>
          <p:nvPr/>
        </p:nvCxnSpPr>
        <p:spPr>
          <a:xfrm>
            <a:off x="2590800" y="3448050"/>
            <a:ext cx="2362200" cy="0"/>
          </a:xfrm>
          <a:prstGeom prst="straightConnector1">
            <a:avLst/>
          </a:prstGeom>
          <a:ln w="38100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0" name="直接箭头连接符 39"/>
          <p:cNvCxnSpPr>
            <a:stCxn id="7" idx="3"/>
            <a:endCxn id="9" idx="1"/>
          </p:cNvCxnSpPr>
          <p:nvPr/>
        </p:nvCxnSpPr>
        <p:spPr>
          <a:xfrm>
            <a:off x="7239000" y="3448050"/>
            <a:ext cx="2428875" cy="0"/>
          </a:xfrm>
          <a:prstGeom prst="straightConnector1">
            <a:avLst/>
          </a:prstGeom>
          <a:ln w="38100">
            <a:solidFill>
              <a:srgbClr val="E13B46"/>
            </a:solidFill>
            <a:prstDash val="solid"/>
            <a:tailEnd type="arrow" w="med" len="med"/>
          </a:ln>
        </p:spPr>
      </p:cxnSp>
      <p:sp>
        <p:nvSpPr>
          <p:cNvPr id="13" name="rule-type-0"/>
          <p:cNvSpPr>
            <a:spLocks noGrp="1"/>
          </p:cNvSpPr>
          <p:nvPr/>
        </p:nvSpPr>
        <p:spPr>
          <a:xfrm>
            <a:off x="552450" y="1733550"/>
            <a:ext cx="2571750" cy="742950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4" name="rule-type-0-text"/>
          <p:cNvSpPr>
            <a:spLocks noGrp="1"/>
          </p:cNvSpPr>
          <p:nvPr/>
        </p:nvSpPr>
        <p:spPr>
          <a:xfrm>
            <a:off x="666750" y="1809750"/>
            <a:ext cx="2343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AMOUNT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single-value threshold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ule-type-1"/>
          <p:cNvSpPr>
            <a:spLocks noGrp="1"/>
          </p:cNvSpPr>
          <p:nvPr/>
        </p:nvSpPr>
        <p:spPr>
          <a:xfrm>
            <a:off x="3457575" y="1733550"/>
            <a:ext cx="2571750" cy="742950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16" name="rule-type-1-text"/>
          <p:cNvSpPr>
            <a:spLocks noGrp="1"/>
          </p:cNvSpPr>
          <p:nvPr/>
        </p:nvSpPr>
        <p:spPr>
          <a:xfrm>
            <a:off x="3571875" y="1809750"/>
            <a:ext cx="2343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VELOCITY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count within a window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ule-type-2"/>
          <p:cNvSpPr>
            <a:spLocks noGrp="1"/>
          </p:cNvSpPr>
          <p:nvPr/>
        </p:nvSpPr>
        <p:spPr>
          <a:xfrm>
            <a:off x="6362700" y="1733550"/>
            <a:ext cx="2571750" cy="742950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8" name="rule-type-2-text"/>
          <p:cNvSpPr>
            <a:spLocks noGrp="1"/>
          </p:cNvSpPr>
          <p:nvPr/>
        </p:nvSpPr>
        <p:spPr>
          <a:xfrm>
            <a:off x="6477000" y="1809750"/>
            <a:ext cx="2343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 PAYEE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first transfer to payee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ule-type-3"/>
          <p:cNvSpPr>
            <a:spLocks noGrp="1"/>
          </p:cNvSpPr>
          <p:nvPr/>
        </p:nvSpPr>
        <p:spPr>
          <a:xfrm>
            <a:off x="9267825" y="1733550"/>
            <a:ext cx="2571750" cy="742950"/>
          </a:xfrm>
          <a:prstGeom prst="roundRect">
            <a:avLst>
              <a:gd name="adj" fmla="val 15385"/>
            </a:avLst>
          </a:prstGeom>
          <a:solidFill>
            <a:srgbClr val="F3F6F9"/>
          </a:solidFill>
          <a:ln w="19050">
            <a:solidFill>
              <a:srgbClr val="65B7F3"/>
            </a:solidFill>
            <a:prstDash val="solid"/>
          </a:ln>
        </p:spPr>
      </p:sp>
      <p:sp>
        <p:nvSpPr>
          <p:cNvPr id="20" name="rule-type-3-text"/>
          <p:cNvSpPr>
            <a:spLocks noGrp="1"/>
          </p:cNvSpPr>
          <p:nvPr/>
        </p:nvSpPr>
        <p:spPr>
          <a:xfrm>
            <a:off x="9382125" y="1809750"/>
            <a:ext cx="2343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DAILY LIMIT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account total per day</a:t>
            </a:r>
            <a:endParaRPr sz="13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ule-complex"/>
          <p:cNvSpPr>
            <a:spLocks noGrp="1"/>
          </p:cNvSpPr>
          <p:nvPr/>
        </p:nvSpPr>
        <p:spPr>
          <a:xfrm>
            <a:off x="4191000" y="4762500"/>
            <a:ext cx="3810000" cy="723900"/>
          </a:xfrm>
          <a:prstGeom prst="roundRect">
            <a:avLst>
              <a:gd name="adj" fmla="val 15789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22" name="rule-complex-text"/>
          <p:cNvSpPr>
            <a:spLocks noGrp="1"/>
          </p:cNvSpPr>
          <p:nvPr/>
        </p:nvSpPr>
        <p:spPr>
          <a:xfrm>
            <a:off x="4305300" y="4838700"/>
            <a:ext cx="3581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COMPLEX MODE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/ OR · TIME_OF_DAY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ule-exempt"/>
          <p:cNvSpPr>
            <a:spLocks noGrp="1"/>
          </p:cNvSpPr>
          <p:nvPr/>
        </p:nvSpPr>
        <p:spPr>
          <a:xfrm>
            <a:off x="742950" y="56769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Early exit: SALARY and REFUND are alert-exempt.</a:t>
            </a:r>
            <a:endParaRPr sz="1350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ule-honesty"/>
          <p:cNvSpPr>
            <a:spLocks noGrp="1"/>
          </p:cNvSpPr>
          <p:nvPr/>
        </p:nvSpPr>
        <p:spPr>
          <a:xfrm>
            <a:off x="5810250" y="5676900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Implementation: central configuration-driven evaluation, not separate strategy classes.</a:t>
            </a:r>
            <a:endParaRPr sz="12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6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Every Status Change Is Validated and Audited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life-0"/>
          <p:cNvSpPr>
            <a:spLocks noGrp="1"/>
          </p:cNvSpPr>
          <p:nvPr/>
        </p:nvSpPr>
        <p:spPr>
          <a:xfrm>
            <a:off x="647700" y="2305050"/>
            <a:ext cx="2152650" cy="800100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6" name="life-0-text"/>
          <p:cNvSpPr>
            <a:spLocks noGrp="1"/>
          </p:cNvSpPr>
          <p:nvPr/>
        </p:nvSpPr>
        <p:spPr>
          <a:xfrm>
            <a:off x="762000" y="23812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</a:t>
            </a:r>
            <a:endParaRPr sz="18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life-1"/>
          <p:cNvSpPr>
            <a:spLocks noGrp="1"/>
          </p:cNvSpPr>
          <p:nvPr/>
        </p:nvSpPr>
        <p:spPr>
          <a:xfrm>
            <a:off x="2990850" y="2305050"/>
            <a:ext cx="21526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8" name="life-1-text"/>
          <p:cNvSpPr>
            <a:spLocks noGrp="1"/>
          </p:cNvSpPr>
          <p:nvPr/>
        </p:nvSpPr>
        <p:spPr>
          <a:xfrm>
            <a:off x="3105150" y="23812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ACKNOWLEDGED</a:t>
            </a:r>
            <a:endParaRPr sz="15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life-2"/>
          <p:cNvSpPr>
            <a:spLocks noGrp="1"/>
          </p:cNvSpPr>
          <p:nvPr/>
        </p:nvSpPr>
        <p:spPr>
          <a:xfrm>
            <a:off x="5905500" y="2305050"/>
            <a:ext cx="21526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10" name="life-2-text"/>
          <p:cNvSpPr>
            <a:spLocks noGrp="1"/>
          </p:cNvSpPr>
          <p:nvPr/>
        </p:nvSpPr>
        <p:spPr>
          <a:xfrm>
            <a:off x="6019800" y="23812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INVESTIGATING</a:t>
            </a:r>
            <a:endParaRPr sz="15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life-3"/>
          <p:cNvSpPr>
            <a:spLocks noGrp="1"/>
          </p:cNvSpPr>
          <p:nvPr/>
        </p:nvSpPr>
        <p:spPr>
          <a:xfrm>
            <a:off x="8820150" y="2305050"/>
            <a:ext cx="2152650" cy="800100"/>
          </a:xfrm>
          <a:prstGeom prst="roundRect">
            <a:avLst>
              <a:gd name="adj" fmla="val 14286"/>
            </a:avLst>
          </a:prstGeom>
          <a:solidFill>
            <a:srgbClr val="EAF7F0"/>
          </a:solidFill>
          <a:ln w="19050">
            <a:solidFill>
              <a:srgbClr val="248B5A"/>
            </a:solidFill>
            <a:prstDash val="solid"/>
          </a:ln>
        </p:spPr>
      </p:sp>
      <p:sp>
        <p:nvSpPr>
          <p:cNvPr id="12" name="life-3-text"/>
          <p:cNvSpPr>
            <a:spLocks noGrp="1"/>
          </p:cNvSpPr>
          <p:nvPr/>
        </p:nvSpPr>
        <p:spPr>
          <a:xfrm>
            <a:off x="8934450" y="2381250"/>
            <a:ext cx="1924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48B5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248B5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CLOSED</a:t>
            </a:r>
            <a:endParaRPr sz="1800" b="1">
              <a:solidFill>
                <a:srgbClr val="248B5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0" name="直接箭头连接符 39"/>
          <p:cNvCxnSpPr>
            <a:stCxn id="5" idx="3"/>
            <a:endCxn id="7" idx="1"/>
          </p:cNvCxnSpPr>
          <p:nvPr/>
        </p:nvCxnSpPr>
        <p:spPr>
          <a:xfrm>
            <a:off x="2800350" y="2705100"/>
            <a:ext cx="190500" cy="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1" name="直接箭头连接符 40"/>
          <p:cNvCxnSpPr>
            <a:stCxn id="7" idx="3"/>
            <a:endCxn id="9" idx="1"/>
          </p:cNvCxnSpPr>
          <p:nvPr/>
        </p:nvCxnSpPr>
        <p:spPr>
          <a:xfrm>
            <a:off x="5143500" y="2705100"/>
            <a:ext cx="762000" cy="0"/>
          </a:xfrm>
          <a:prstGeom prst="straightConnector1">
            <a:avLst/>
          </a:prstGeom>
          <a:ln w="28575">
            <a:solidFill>
              <a:srgbClr val="1769E0"/>
            </a:solidFill>
            <a:prstDash val="solid"/>
            <a:tailEnd type="arrow" w="med" len="med"/>
          </a:ln>
        </p:spPr>
      </p:cxnSp>
      <p:cxnSp>
        <p:nvCxnSpPr>
          <p:cNvPr id="42" name="直接箭头连接符 41"/>
          <p:cNvCxnSpPr>
            <a:stCxn id="9" idx="3"/>
            <a:endCxn id="11" idx="1"/>
          </p:cNvCxnSpPr>
          <p:nvPr/>
        </p:nvCxnSpPr>
        <p:spPr>
          <a:xfrm>
            <a:off x="8058150" y="2705100"/>
            <a:ext cx="762000" cy="0"/>
          </a:xfrm>
          <a:prstGeom prst="straightConnector1">
            <a:avLst/>
          </a:prstGeom>
          <a:ln w="28575">
            <a:solidFill>
              <a:srgbClr val="248B5A"/>
            </a:solidFill>
            <a:prstDash val="solid"/>
            <a:tailEnd type="arrow" w="med" len="med"/>
          </a:ln>
        </p:spPr>
      </p:cxnSp>
      <p:sp>
        <p:nvSpPr>
          <p:cNvPr id="16" name="life-dismissed"/>
          <p:cNvSpPr>
            <a:spLocks noGrp="1"/>
          </p:cNvSpPr>
          <p:nvPr/>
        </p:nvSpPr>
        <p:spPr>
          <a:xfrm>
            <a:off x="5562600" y="3905250"/>
            <a:ext cx="2286000" cy="742950"/>
          </a:xfrm>
          <a:prstGeom prst="roundRect">
            <a:avLst>
              <a:gd name="adj" fmla="val 15385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7" name="life-dismissed-text"/>
          <p:cNvSpPr>
            <a:spLocks noGrp="1"/>
          </p:cNvSpPr>
          <p:nvPr/>
        </p:nvSpPr>
        <p:spPr>
          <a:xfrm>
            <a:off x="5676900" y="398145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DISMISSED</a:t>
            </a:r>
            <a:endParaRPr sz="172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5" name="肘形连接符 44"/>
          <p:cNvCxnSpPr>
            <a:stCxn id="7" idx="2"/>
            <a:endCxn id="16" idx="0"/>
          </p:cNvCxnSpPr>
          <p:nvPr/>
        </p:nvCxnSpPr>
        <p:spPr>
          <a:xfrm>
            <a:off x="4067175" y="3105150"/>
            <a:ext cx="2638425" cy="8001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E13B46"/>
            </a:solidFill>
            <a:prstDash val="solid"/>
            <a:tailEnd type="arrow" w="med" len="med"/>
          </a:ln>
        </p:spPr>
      </p:cxnSp>
      <p:cxnSp>
        <p:nvCxnSpPr>
          <p:cNvPr id="46" name="肘形连接符 45"/>
          <p:cNvCxnSpPr>
            <a:stCxn id="9" idx="2"/>
            <a:endCxn id="16" idx="0"/>
          </p:cNvCxnSpPr>
          <p:nvPr/>
        </p:nvCxnSpPr>
        <p:spPr>
          <a:xfrm flipH="1">
            <a:off x="6705600" y="3105150"/>
            <a:ext cx="276225" cy="8001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E13B46"/>
            </a:solidFill>
            <a:prstDash val="solid"/>
            <a:tailEnd type="arrow" w="med" len="med"/>
          </a:ln>
        </p:spPr>
      </p:cxnSp>
      <p:sp>
        <p:nvSpPr>
          <p:cNvPr id="20" name="history-panel"/>
          <p:cNvSpPr>
            <a:spLocks noGrp="1"/>
          </p:cNvSpPr>
          <p:nvPr/>
        </p:nvSpPr>
        <p:spPr>
          <a:xfrm>
            <a:off x="666750" y="5095875"/>
            <a:ext cx="10572750" cy="87630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1" name="history-title"/>
          <p:cNvSpPr>
            <a:spLocks noGrp="1"/>
          </p:cNvSpPr>
          <p:nvPr/>
        </p:nvSpPr>
        <p:spPr>
          <a:xfrm>
            <a:off x="876300" y="52673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AUDIT RECORD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history-fields"/>
          <p:cNvSpPr>
            <a:spLocks noGrp="1"/>
          </p:cNvSpPr>
          <p:nvPr/>
        </p:nvSpPr>
        <p:spPr>
          <a:xfrm>
            <a:off x="2724150" y="5219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old_status   →   new_status   ·   notes   ·   changed_at</a:t>
            </a:r>
            <a:endParaRPr sz="172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history-rule"/>
          <p:cNvSpPr>
            <a:spLocks noGrp="1"/>
          </p:cNvSpPr>
          <p:nvPr/>
        </p:nvSpPr>
        <p:spPr>
          <a:xfrm>
            <a:off x="7239000" y="5753100"/>
            <a:ext cx="367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Closing is only valid from INVESTIGATING.</a:t>
            </a:r>
            <a:endParaRPr sz="12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5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Live Demo: From Suspicious Transaction to Actionable Alert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demo-no-0"/>
          <p:cNvSpPr>
            <a:spLocks noGrp="1"/>
          </p:cNvSpPr>
          <p:nvPr/>
        </p:nvSpPr>
        <p:spPr>
          <a:xfrm>
            <a:off x="523875" y="18478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21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demo-box-0"/>
          <p:cNvSpPr>
            <a:spLocks noGrp="1"/>
          </p:cNvSpPr>
          <p:nvPr/>
        </p:nvSpPr>
        <p:spPr>
          <a:xfrm>
            <a:off x="523875" y="2457450"/>
            <a:ext cx="2571750" cy="704850"/>
          </a:xfrm>
          <a:prstGeom prst="roundRect">
            <a:avLst>
              <a:gd name="adj" fmla="val 16216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7" name="demo-box-0-text"/>
          <p:cNvSpPr>
            <a:spLocks noGrp="1"/>
          </p:cNvSpPr>
          <p:nvPr/>
        </p:nvSpPr>
        <p:spPr>
          <a:xfrm>
            <a:off x="638175" y="25336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INSPECT RULES</a:t>
            </a:r>
            <a:endParaRPr sz="16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demo-body-0"/>
          <p:cNvSpPr>
            <a:spLocks noGrp="1"/>
          </p:cNvSpPr>
          <p:nvPr/>
        </p:nvSpPr>
        <p:spPr>
          <a:xfrm>
            <a:off x="523875" y="337185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Confirm High Value and New Payee are active.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demo-arrow-0"/>
          <p:cNvSpPr>
            <a:spLocks noGrp="1"/>
          </p:cNvSpPr>
          <p:nvPr/>
        </p:nvSpPr>
        <p:spPr>
          <a:xfrm>
            <a:off x="3095625" y="257175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demo-no-1"/>
          <p:cNvSpPr>
            <a:spLocks noGrp="1"/>
          </p:cNvSpPr>
          <p:nvPr/>
        </p:nvSpPr>
        <p:spPr>
          <a:xfrm>
            <a:off x="3438525" y="18478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21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demo-box-1"/>
          <p:cNvSpPr>
            <a:spLocks noGrp="1"/>
          </p:cNvSpPr>
          <p:nvPr/>
        </p:nvSpPr>
        <p:spPr>
          <a:xfrm>
            <a:off x="3438525" y="2457450"/>
            <a:ext cx="2571750" cy="704850"/>
          </a:xfrm>
          <a:prstGeom prst="roundRect">
            <a:avLst>
              <a:gd name="adj" fmla="val 16216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12" name="demo-box-1-text"/>
          <p:cNvSpPr>
            <a:spLocks noGrp="1"/>
          </p:cNvSpPr>
          <p:nvPr/>
        </p:nvSpPr>
        <p:spPr>
          <a:xfrm>
            <a:off x="3552825" y="25336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SUBMIT TRANSACTION</a:t>
            </a:r>
            <a:endParaRPr sz="16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demo-body-1"/>
          <p:cNvSpPr>
            <a:spLocks noGrp="1"/>
          </p:cNvSpPr>
          <p:nvPr/>
        </p:nvSpPr>
        <p:spPr>
          <a:xfrm>
            <a:off x="3438525" y="337185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15,000 USD · TRANSFER_OUT · unique payee.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demo-arrow-1"/>
          <p:cNvSpPr>
            <a:spLocks noGrp="1"/>
          </p:cNvSpPr>
          <p:nvPr/>
        </p:nvSpPr>
        <p:spPr>
          <a:xfrm>
            <a:off x="6010275" y="257175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demo-no-2"/>
          <p:cNvSpPr>
            <a:spLocks noGrp="1"/>
          </p:cNvSpPr>
          <p:nvPr/>
        </p:nvSpPr>
        <p:spPr>
          <a:xfrm>
            <a:off x="6353175" y="18478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21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demo-box-2"/>
          <p:cNvSpPr>
            <a:spLocks noGrp="1"/>
          </p:cNvSpPr>
          <p:nvPr/>
        </p:nvSpPr>
        <p:spPr>
          <a:xfrm>
            <a:off x="6353175" y="2457450"/>
            <a:ext cx="2571750" cy="704850"/>
          </a:xfrm>
          <a:prstGeom prst="roundRect">
            <a:avLst>
              <a:gd name="adj" fmla="val 16216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17" name="demo-box-2-text"/>
          <p:cNvSpPr>
            <a:spLocks noGrp="1"/>
          </p:cNvSpPr>
          <p:nvPr/>
        </p:nvSpPr>
        <p:spPr>
          <a:xfrm>
            <a:off x="6467475" y="25336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REVIEW ALERTS</a:t>
            </a:r>
            <a:endParaRPr sz="16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demo-body-2"/>
          <p:cNvSpPr>
            <a:spLocks noGrp="1"/>
          </p:cNvSpPr>
          <p:nvPr/>
        </p:nvSpPr>
        <p:spPr>
          <a:xfrm>
            <a:off x="6353175" y="337185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 the alerts created by matched rules.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demo-arrow-2"/>
          <p:cNvSpPr>
            <a:spLocks noGrp="1"/>
          </p:cNvSpPr>
          <p:nvPr/>
        </p:nvSpPr>
        <p:spPr>
          <a:xfrm>
            <a:off x="8924925" y="257175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25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demo-no-3"/>
          <p:cNvSpPr>
            <a:spLocks noGrp="1"/>
          </p:cNvSpPr>
          <p:nvPr/>
        </p:nvSpPr>
        <p:spPr>
          <a:xfrm>
            <a:off x="9267825" y="18478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1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demo-box-3"/>
          <p:cNvSpPr>
            <a:spLocks noGrp="1"/>
          </p:cNvSpPr>
          <p:nvPr/>
        </p:nvSpPr>
        <p:spPr>
          <a:xfrm>
            <a:off x="9267825" y="2457450"/>
            <a:ext cx="2571750" cy="704850"/>
          </a:xfrm>
          <a:prstGeom prst="roundRect">
            <a:avLst>
              <a:gd name="adj" fmla="val 16216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22" name="demo-box-3-text"/>
          <p:cNvSpPr>
            <a:spLocks noGrp="1"/>
          </p:cNvSpPr>
          <p:nvPr/>
        </p:nvSpPr>
        <p:spPr>
          <a:xfrm>
            <a:off x="9382125" y="2533650"/>
            <a:ext cx="2343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RESOLVE</a:t>
            </a:r>
            <a:endParaRPr sz="16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demo-body-3"/>
          <p:cNvSpPr>
            <a:spLocks noGrp="1"/>
          </p:cNvSpPr>
          <p:nvPr/>
        </p:nvSpPr>
        <p:spPr>
          <a:xfrm>
            <a:off x="9267825" y="3371850"/>
            <a:ext cx="2571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Acknowledge → Investigate → Close → History.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demo-code-box"/>
          <p:cNvSpPr>
            <a:spLocks noGrp="1"/>
          </p:cNvSpPr>
          <p:nvPr/>
        </p:nvSpPr>
        <p:spPr>
          <a:xfrm>
            <a:off x="2000250" y="4857750"/>
            <a:ext cx="8191500" cy="83820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 w="9525">
            <a:solidFill>
              <a:srgbClr val="D6DEE7"/>
            </a:solidFill>
            <a:prstDash val="solid"/>
          </a:ln>
        </p:spPr>
      </p:sp>
      <p:sp>
        <p:nvSpPr>
          <p:cNvPr id="25" name="demo-code"/>
          <p:cNvSpPr>
            <a:spLocks noGrp="1"/>
          </p:cNvSpPr>
          <p:nvPr/>
        </p:nvSpPr>
        <p:spPr>
          <a:xfrm>
            <a:off x="2190750" y="50292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DEMO-ACC-*   ·   DEMO-PAYEE-*   ·   15,000 USD   ·   TRANSFER_OUT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demo-backup"/>
          <p:cNvSpPr>
            <a:spLocks noGrp="1"/>
          </p:cNvSpPr>
          <p:nvPr/>
        </p:nvSpPr>
        <p:spPr>
          <a:xfrm>
            <a:off x="3143250" y="59055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Fallback plan: four screenshots + a short walkthrough recording.</a:t>
            </a:r>
            <a:endParaRPr sz="12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8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 Reduced Avoidable Work, but Evaluation Is Still Synchronous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perf-divider"/>
          <p:cNvSpPr>
            <a:spLocks noGrp="1"/>
          </p:cNvSpPr>
          <p:nvPr/>
        </p:nvSpPr>
        <p:spPr>
          <a:xfrm>
            <a:off x="6096000" y="1809750"/>
            <a:ext cx="286" cy="3810000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</p:sp>
      <p:sp>
        <p:nvSpPr>
          <p:cNvPr id="6" name="perf-now-title"/>
          <p:cNvSpPr>
            <a:spLocks noGrp="1"/>
          </p:cNvSpPr>
          <p:nvPr/>
        </p:nvSpPr>
        <p:spPr>
          <a:xfrm>
            <a:off x="800100" y="18097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HELPS TODAY</a:t>
            </a:r>
            <a:endParaRPr sz="19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perf-limit-title"/>
          <p:cNvSpPr>
            <a:spLocks noGrp="1"/>
          </p:cNvSpPr>
          <p:nvPr/>
        </p:nvSpPr>
        <p:spPr>
          <a:xfrm>
            <a:off x="6762750" y="18097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LIMITS SCALE</a:t>
            </a:r>
            <a:endParaRPr sz="19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perf-help-line-0"/>
          <p:cNvSpPr>
            <a:spLocks noGrp="1"/>
          </p:cNvSpPr>
          <p:nvPr/>
        </p:nvSpPr>
        <p:spPr>
          <a:xfrm>
            <a:off x="857250" y="2533650"/>
            <a:ext cx="4000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9" name="perf-help-0"/>
          <p:cNvSpPr>
            <a:spLocks noGrp="1"/>
          </p:cNvSpPr>
          <p:nvPr/>
        </p:nvSpPr>
        <p:spPr>
          <a:xfrm>
            <a:off x="1466850" y="23622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Load active rules only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perf-help-line-1"/>
          <p:cNvSpPr>
            <a:spLocks noGrp="1"/>
          </p:cNvSpPr>
          <p:nvPr/>
        </p:nvSpPr>
        <p:spPr>
          <a:xfrm>
            <a:off x="857250" y="3200400"/>
            <a:ext cx="4000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1" name="perf-help-1"/>
          <p:cNvSpPr>
            <a:spLocks noGrp="1"/>
          </p:cNvSpPr>
          <p:nvPr/>
        </p:nvSpPr>
        <p:spPr>
          <a:xfrm>
            <a:off x="1466850" y="302895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Skip alert-exempt transactions early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perf-help-line-2"/>
          <p:cNvSpPr>
            <a:spLocks noGrp="1"/>
          </p:cNvSpPr>
          <p:nvPr/>
        </p:nvSpPr>
        <p:spPr>
          <a:xfrm>
            <a:off x="857250" y="3867150"/>
            <a:ext cx="4000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3" name="perf-help-2"/>
          <p:cNvSpPr>
            <a:spLocks noGrp="1"/>
          </p:cNvSpPr>
          <p:nvPr/>
        </p:nvSpPr>
        <p:spPr>
          <a:xfrm>
            <a:off x="1466850" y="36957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Index account + timestamp and payee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perf-help-line-3"/>
          <p:cNvSpPr>
            <a:spLocks noGrp="1"/>
          </p:cNvSpPr>
          <p:nvPr/>
        </p:nvSpPr>
        <p:spPr>
          <a:xfrm>
            <a:off x="857250" y="4533900"/>
            <a:ext cx="4000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5" name="perf-help-3"/>
          <p:cNvSpPr>
            <a:spLocks noGrp="1"/>
          </p:cNvSpPr>
          <p:nvPr/>
        </p:nvSpPr>
        <p:spPr>
          <a:xfrm>
            <a:off x="1466850" y="436245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Cache FX rates for transaction filtering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perf-limit-line-0"/>
          <p:cNvSpPr>
            <a:spLocks noGrp="1"/>
          </p:cNvSpPr>
          <p:nvPr/>
        </p:nvSpPr>
        <p:spPr>
          <a:xfrm>
            <a:off x="6800850" y="2533650"/>
            <a:ext cx="4000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17" name="perf-limit-0"/>
          <p:cNvSpPr>
            <a:spLocks noGrp="1"/>
          </p:cNvSpPr>
          <p:nvPr/>
        </p:nvSpPr>
        <p:spPr>
          <a:xfrm>
            <a:off x="7410450" y="23622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 rules inside the transaction request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perf-limit-line-1"/>
          <p:cNvSpPr>
            <a:spLocks noGrp="1"/>
          </p:cNvSpPr>
          <p:nvPr/>
        </p:nvSpPr>
        <p:spPr>
          <a:xfrm>
            <a:off x="6800850" y="3200400"/>
            <a:ext cx="4000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19" name="perf-limit-1"/>
          <p:cNvSpPr>
            <a:spLocks noGrp="1"/>
          </p:cNvSpPr>
          <p:nvPr/>
        </p:nvSpPr>
        <p:spPr>
          <a:xfrm>
            <a:off x="7410450" y="30289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 database queries per history-based rule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perf-limit-line-2"/>
          <p:cNvSpPr>
            <a:spLocks noGrp="1"/>
          </p:cNvSpPr>
          <p:nvPr/>
        </p:nvSpPr>
        <p:spPr>
          <a:xfrm>
            <a:off x="6800850" y="3867150"/>
            <a:ext cx="4000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21" name="perf-limit-2"/>
          <p:cNvSpPr>
            <a:spLocks noGrp="1"/>
          </p:cNvSpPr>
          <p:nvPr/>
        </p:nvSpPr>
        <p:spPr>
          <a:xfrm>
            <a:off x="7410450" y="369570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throughput benchmark yet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perf-limit-line-3"/>
          <p:cNvSpPr>
            <a:spLocks noGrp="1"/>
          </p:cNvSpPr>
          <p:nvPr/>
        </p:nvSpPr>
        <p:spPr>
          <a:xfrm>
            <a:off x="6800850" y="4533900"/>
            <a:ext cx="4000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23" name="perf-limit-3"/>
          <p:cNvSpPr>
            <a:spLocks noGrp="1"/>
          </p:cNvSpPr>
          <p:nvPr/>
        </p:nvSpPr>
        <p:spPr>
          <a:xfrm>
            <a:off x="7410450" y="4362450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 asynchronous queue or rule cache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perf-summary"/>
          <p:cNvSpPr>
            <a:spLocks noGrp="1"/>
          </p:cNvSpPr>
          <p:nvPr/>
        </p:nvSpPr>
        <p:spPr>
          <a:xfrm>
            <a:off x="1905000" y="5772150"/>
            <a:ext cx="838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next optimisation must begin with measurement—not an invented throughput claim.</a:t>
            </a:r>
            <a:endParaRPr sz="1575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6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Integration Mistakes Became Our Most Useful Lessons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lesson-top-0"/>
          <p:cNvSpPr>
            <a:spLocks noGrp="1"/>
          </p:cNvSpPr>
          <p:nvPr/>
        </p:nvSpPr>
        <p:spPr>
          <a:xfrm>
            <a:off x="628650" y="1847850"/>
            <a:ext cx="3048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6" name="lesson-no-0"/>
          <p:cNvSpPr>
            <a:spLocks noGrp="1"/>
          </p:cNvSpPr>
          <p:nvPr/>
        </p:nvSpPr>
        <p:spPr>
          <a:xfrm>
            <a:off x="628650" y="20764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5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lesson-title-0"/>
          <p:cNvSpPr>
            <a:spLocks noGrp="1"/>
          </p:cNvSpPr>
          <p:nvPr/>
        </p:nvSpPr>
        <p:spPr>
          <a:xfrm>
            <a:off x="1219200" y="2038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FIELD CONTRACT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lesson-problem-0"/>
          <p:cNvSpPr>
            <a:spLocks noGrp="1"/>
          </p:cNvSpPr>
          <p:nvPr/>
        </p:nvSpPr>
        <p:spPr>
          <a:xfrm>
            <a:off x="628650" y="280035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isActive and active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did not match.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lesson-divider-0"/>
          <p:cNvSpPr>
            <a:spLocks noGrp="1"/>
          </p:cNvSpPr>
          <p:nvPr/>
        </p:nvSpPr>
        <p:spPr>
          <a:xfrm>
            <a:off x="628650" y="4000500"/>
            <a:ext cx="2667000" cy="286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</p:sp>
      <p:sp>
        <p:nvSpPr>
          <p:cNvPr id="10" name="lesson-learning-label-0"/>
          <p:cNvSpPr>
            <a:spLocks noGrp="1"/>
          </p:cNvSpPr>
          <p:nvPr/>
        </p:nvSpPr>
        <p:spPr>
          <a:xfrm>
            <a:off x="628650" y="42672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lesson-learning-0"/>
          <p:cNvSpPr>
            <a:spLocks noGrp="1"/>
          </p:cNvSpPr>
          <p:nvPr/>
        </p:nvSpPr>
        <p:spPr>
          <a:xfrm>
            <a:off x="628650" y="4629150"/>
            <a:ext cx="304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Verify the actual JSON contract.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lesson-top-1"/>
          <p:cNvSpPr>
            <a:spLocks noGrp="1"/>
          </p:cNvSpPr>
          <p:nvPr/>
        </p:nvSpPr>
        <p:spPr>
          <a:xfrm>
            <a:off x="4410075" y="1847850"/>
            <a:ext cx="30480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13" name="lesson-no-1"/>
          <p:cNvSpPr>
            <a:spLocks noGrp="1"/>
          </p:cNvSpPr>
          <p:nvPr/>
        </p:nvSpPr>
        <p:spPr>
          <a:xfrm>
            <a:off x="4410075" y="20764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5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lesson-title-1"/>
          <p:cNvSpPr>
            <a:spLocks noGrp="1"/>
          </p:cNvSpPr>
          <p:nvPr/>
        </p:nvSpPr>
        <p:spPr>
          <a:xfrm>
            <a:off x="5000625" y="2038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WORKFLOW RULE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lesson-problem-1"/>
          <p:cNvSpPr>
            <a:spLocks noGrp="1"/>
          </p:cNvSpPr>
          <p:nvPr/>
        </p:nvSpPr>
        <p:spPr>
          <a:xfrm>
            <a:off x="4410075" y="280035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Alerts could once close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 early.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lesson-divider-1"/>
          <p:cNvSpPr>
            <a:spLocks noGrp="1"/>
          </p:cNvSpPr>
          <p:nvPr/>
        </p:nvSpPr>
        <p:spPr>
          <a:xfrm>
            <a:off x="4410075" y="4000500"/>
            <a:ext cx="2667000" cy="286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</p:sp>
      <p:sp>
        <p:nvSpPr>
          <p:cNvPr id="17" name="lesson-learning-label-1"/>
          <p:cNvSpPr>
            <a:spLocks noGrp="1"/>
          </p:cNvSpPr>
          <p:nvPr/>
        </p:nvSpPr>
        <p:spPr>
          <a:xfrm>
            <a:off x="4410075" y="42672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lesson-learning-1"/>
          <p:cNvSpPr>
            <a:spLocks noGrp="1"/>
          </p:cNvSpPr>
          <p:nvPr/>
        </p:nvSpPr>
        <p:spPr>
          <a:xfrm>
            <a:off x="4410075" y="4629150"/>
            <a:ext cx="304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Put lifecycle rules in the service.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lesson-top-2"/>
          <p:cNvSpPr>
            <a:spLocks noGrp="1"/>
          </p:cNvSpPr>
          <p:nvPr/>
        </p:nvSpPr>
        <p:spPr>
          <a:xfrm>
            <a:off x="8191500" y="1847850"/>
            <a:ext cx="3048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20" name="lesson-no-2"/>
          <p:cNvSpPr>
            <a:spLocks noGrp="1"/>
          </p:cNvSpPr>
          <p:nvPr/>
        </p:nvSpPr>
        <p:spPr>
          <a:xfrm>
            <a:off x="8191500" y="207645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50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lesson-title-2"/>
          <p:cNvSpPr>
            <a:spLocks noGrp="1"/>
          </p:cNvSpPr>
          <p:nvPr/>
        </p:nvSpPr>
        <p:spPr>
          <a:xfrm>
            <a:off x="8782050" y="20383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OF TRUTH</a:t>
            </a:r>
            <a:endParaRPr sz="18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lesson-problem-2"/>
          <p:cNvSpPr>
            <a:spLocks noGrp="1"/>
          </p:cNvSpPr>
          <p:nvPr/>
        </p:nvSpPr>
        <p:spPr>
          <a:xfrm>
            <a:off x="8191500" y="280035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Docs and merged code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drifted apart.</a:t>
            </a:r>
            <a:endParaRPr sz="180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lesson-divider-2"/>
          <p:cNvSpPr>
            <a:spLocks noGrp="1"/>
          </p:cNvSpPr>
          <p:nvPr/>
        </p:nvSpPr>
        <p:spPr>
          <a:xfrm>
            <a:off x="8191500" y="4000500"/>
            <a:ext cx="2667000" cy="286"/>
          </a:xfrm>
          <a:prstGeom prst="line">
            <a:avLst/>
          </a:prstGeom>
          <a:noFill/>
          <a:ln w="19050">
            <a:solidFill>
              <a:srgbClr val="D6DEE7"/>
            </a:solidFill>
            <a:prstDash val="solid"/>
          </a:ln>
        </p:spPr>
      </p:sp>
      <p:sp>
        <p:nvSpPr>
          <p:cNvPr id="24" name="lesson-learning-label-2"/>
          <p:cNvSpPr>
            <a:spLocks noGrp="1"/>
          </p:cNvSpPr>
          <p:nvPr/>
        </p:nvSpPr>
        <p:spPr>
          <a:xfrm>
            <a:off x="8191500" y="42672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lesson-learning-2"/>
          <p:cNvSpPr>
            <a:spLocks noGrp="1"/>
          </p:cNvSpPr>
          <p:nvPr/>
        </p:nvSpPr>
        <p:spPr>
          <a:xfrm>
            <a:off x="8191500" y="4629150"/>
            <a:ext cx="304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Validate claims against main.</a:t>
            </a:r>
            <a:endParaRPr sz="16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lesson-footer"/>
          <p:cNvSpPr>
            <a:spLocks noGrp="1"/>
          </p:cNvSpPr>
          <p:nvPr/>
        </p:nvSpPr>
        <p:spPr>
          <a:xfrm>
            <a:off x="2305050" y="5867400"/>
            <a:ext cx="758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Other operational lessons: merge conflicts, port shutdown and JDK alignment.</a:t>
            </a:r>
            <a:endParaRPr sz="1350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8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 Separate What Is Implemented from What Is Proven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proof-col-0"/>
          <p:cNvSpPr>
            <a:spLocks noGrp="1"/>
          </p:cNvSpPr>
          <p:nvPr/>
        </p:nvSpPr>
        <p:spPr>
          <a:xfrm>
            <a:off x="514350" y="1847850"/>
            <a:ext cx="3543300" cy="3829050"/>
          </a:xfrm>
          <a:prstGeom prst="roundRect">
            <a:avLst>
              <a:gd name="adj" fmla="val 2688"/>
            </a:avLst>
          </a:prstGeom>
          <a:solidFill>
            <a:srgbClr val="EAF4FF"/>
          </a:solidFill>
          <a:ln w="19050">
            <a:solidFill>
              <a:srgbClr val="1769E0"/>
            </a:solidFill>
            <a:prstDash val="solid"/>
          </a:ln>
        </p:spPr>
      </p:sp>
      <p:sp>
        <p:nvSpPr>
          <p:cNvPr id="6" name="proof-title-0"/>
          <p:cNvSpPr>
            <a:spLocks noGrp="1"/>
          </p:cNvSpPr>
          <p:nvPr/>
        </p:nvSpPr>
        <p:spPr>
          <a:xfrm>
            <a:off x="742950" y="2076450"/>
            <a:ext cx="308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IMPLEMENTED</a:t>
            </a:r>
            <a:endParaRPr sz="187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proof-line-0-0"/>
          <p:cNvSpPr>
            <a:spLocks noGrp="1"/>
          </p:cNvSpPr>
          <p:nvPr/>
        </p:nvSpPr>
        <p:spPr>
          <a:xfrm>
            <a:off x="838200" y="2952750"/>
            <a:ext cx="3619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8" name="proof-item-0-0"/>
          <p:cNvSpPr>
            <a:spLocks noGrp="1"/>
          </p:cNvSpPr>
          <p:nvPr/>
        </p:nvSpPr>
        <p:spPr>
          <a:xfrm>
            <a:off x="1352550" y="27432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→ rule → alert flow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proof-line-0-1"/>
          <p:cNvSpPr>
            <a:spLocks noGrp="1"/>
          </p:cNvSpPr>
          <p:nvPr/>
        </p:nvSpPr>
        <p:spPr>
          <a:xfrm>
            <a:off x="838200" y="3790950"/>
            <a:ext cx="3619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0" name="proof-item-0-1"/>
          <p:cNvSpPr>
            <a:spLocks noGrp="1"/>
          </p:cNvSpPr>
          <p:nvPr/>
        </p:nvSpPr>
        <p:spPr>
          <a:xfrm>
            <a:off x="1352550" y="35814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Validated alert lifecycle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proof-line-0-2"/>
          <p:cNvSpPr>
            <a:spLocks noGrp="1"/>
          </p:cNvSpPr>
          <p:nvPr/>
        </p:nvSpPr>
        <p:spPr>
          <a:xfrm>
            <a:off x="838200" y="4629150"/>
            <a:ext cx="361950" cy="286"/>
          </a:xfrm>
          <a:prstGeom prst="line">
            <a:avLst/>
          </a:prstGeom>
          <a:noFill/>
          <a:ln w="28575">
            <a:solidFill>
              <a:srgbClr val="1769E0"/>
            </a:solidFill>
            <a:prstDash val="solid"/>
          </a:ln>
        </p:spPr>
      </p:sp>
      <p:sp>
        <p:nvSpPr>
          <p:cNvPr id="12" name="proof-item-0-2"/>
          <p:cNvSpPr>
            <a:spLocks noGrp="1"/>
          </p:cNvSpPr>
          <p:nvPr/>
        </p:nvSpPr>
        <p:spPr>
          <a:xfrm>
            <a:off x="1352550" y="44196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 history and UI actions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proof-col-1"/>
          <p:cNvSpPr>
            <a:spLocks noGrp="1"/>
          </p:cNvSpPr>
          <p:nvPr/>
        </p:nvSpPr>
        <p:spPr>
          <a:xfrm>
            <a:off x="4362450" y="1847850"/>
            <a:ext cx="3543300" cy="38290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9050">
            <a:solidFill>
              <a:srgbClr val="0B3A75"/>
            </a:solidFill>
            <a:prstDash val="solid"/>
          </a:ln>
        </p:spPr>
      </p:sp>
      <p:sp>
        <p:nvSpPr>
          <p:cNvPr id="14" name="proof-title-1"/>
          <p:cNvSpPr>
            <a:spLocks noGrp="1"/>
          </p:cNvSpPr>
          <p:nvPr/>
        </p:nvSpPr>
        <p:spPr>
          <a:xfrm>
            <a:off x="4591050" y="2076450"/>
            <a:ext cx="308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CODE EXISTS</a:t>
            </a:r>
            <a:endParaRPr sz="187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proof-line-1-0"/>
          <p:cNvSpPr>
            <a:spLocks noGrp="1"/>
          </p:cNvSpPr>
          <p:nvPr/>
        </p:nvSpPr>
        <p:spPr>
          <a:xfrm>
            <a:off x="4686300" y="2952750"/>
            <a:ext cx="361950" cy="286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16" name="proof-item-1-0"/>
          <p:cNvSpPr>
            <a:spLocks noGrp="1"/>
          </p:cNvSpPr>
          <p:nvPr/>
        </p:nvSpPr>
        <p:spPr>
          <a:xfrm>
            <a:off x="5200650" y="27432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17 unit-test methods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proof-line-1-1"/>
          <p:cNvSpPr>
            <a:spLocks noGrp="1"/>
          </p:cNvSpPr>
          <p:nvPr/>
        </p:nvSpPr>
        <p:spPr>
          <a:xfrm>
            <a:off x="4686300" y="3790950"/>
            <a:ext cx="361950" cy="286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18" name="proof-item-1-1"/>
          <p:cNvSpPr>
            <a:spLocks noGrp="1"/>
          </p:cNvSpPr>
          <p:nvPr/>
        </p:nvSpPr>
        <p:spPr>
          <a:xfrm>
            <a:off x="5200650" y="35814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Happy paths and error paths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proof-line-1-2"/>
          <p:cNvSpPr>
            <a:spLocks noGrp="1"/>
          </p:cNvSpPr>
          <p:nvPr/>
        </p:nvSpPr>
        <p:spPr>
          <a:xfrm>
            <a:off x="4686300" y="4629150"/>
            <a:ext cx="361950" cy="286"/>
          </a:xfrm>
          <a:prstGeom prst="line">
            <a:avLst/>
          </a:prstGeom>
          <a:noFill/>
          <a:ln w="28575">
            <a:solidFill>
              <a:srgbClr val="0B3A75"/>
            </a:solidFill>
            <a:prstDash val="solid"/>
          </a:ln>
        </p:spPr>
      </p:sp>
      <p:sp>
        <p:nvSpPr>
          <p:cNvPr id="20" name="proof-item-1-2"/>
          <p:cNvSpPr>
            <a:spLocks noGrp="1"/>
          </p:cNvSpPr>
          <p:nvPr/>
        </p:nvSpPr>
        <p:spPr>
          <a:xfrm>
            <a:off x="5200650" y="44196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Mockito service isolation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proof-col-2"/>
          <p:cNvSpPr>
            <a:spLocks noGrp="1"/>
          </p:cNvSpPr>
          <p:nvPr/>
        </p:nvSpPr>
        <p:spPr>
          <a:xfrm>
            <a:off x="8210550" y="1847850"/>
            <a:ext cx="3543300" cy="3829050"/>
          </a:xfrm>
          <a:prstGeom prst="roundRect">
            <a:avLst>
              <a:gd name="adj" fmla="val 2688"/>
            </a:avLst>
          </a:prstGeom>
          <a:solidFill>
            <a:srgbClr val="FDECEE"/>
          </a:solidFill>
          <a:ln w="19050">
            <a:solidFill>
              <a:srgbClr val="E13B46"/>
            </a:solidFill>
            <a:prstDash val="solid"/>
          </a:ln>
        </p:spPr>
      </p:sp>
      <p:sp>
        <p:nvSpPr>
          <p:cNvPr id="22" name="proof-title-2"/>
          <p:cNvSpPr>
            <a:spLocks noGrp="1"/>
          </p:cNvSpPr>
          <p:nvPr/>
        </p:nvSpPr>
        <p:spPr>
          <a:xfrm>
            <a:off x="8439150" y="2076450"/>
            <a:ext cx="308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 YET PROVEN</a:t>
            </a:r>
            <a:endParaRPr sz="18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proof-line-2-0"/>
          <p:cNvSpPr>
            <a:spLocks noGrp="1"/>
          </p:cNvSpPr>
          <p:nvPr/>
        </p:nvSpPr>
        <p:spPr>
          <a:xfrm>
            <a:off x="8534400" y="2952750"/>
            <a:ext cx="3619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24" name="proof-item-2-0"/>
          <p:cNvSpPr>
            <a:spLocks noGrp="1"/>
          </p:cNvSpPr>
          <p:nvPr/>
        </p:nvSpPr>
        <p:spPr>
          <a:xfrm>
            <a:off x="9048750" y="27432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build passes in this machine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proof-line-2-1"/>
          <p:cNvSpPr>
            <a:spLocks noGrp="1"/>
          </p:cNvSpPr>
          <p:nvPr/>
        </p:nvSpPr>
        <p:spPr>
          <a:xfrm>
            <a:off x="8534400" y="3790950"/>
            <a:ext cx="3619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26" name="proof-item-2-1"/>
          <p:cNvSpPr>
            <a:spLocks noGrp="1"/>
          </p:cNvSpPr>
          <p:nvPr/>
        </p:nvSpPr>
        <p:spPr>
          <a:xfrm>
            <a:off x="9048750" y="35814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Rule-engine FX conversion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proof-line-2-2"/>
          <p:cNvSpPr>
            <a:spLocks noGrp="1"/>
          </p:cNvSpPr>
          <p:nvPr/>
        </p:nvSpPr>
        <p:spPr>
          <a:xfrm>
            <a:off x="8534400" y="4629150"/>
            <a:ext cx="361950" cy="286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28" name="proof-item-2-2"/>
          <p:cNvSpPr>
            <a:spLocks noGrp="1"/>
          </p:cNvSpPr>
          <p:nvPr/>
        </p:nvSpPr>
        <p:spPr>
          <a:xfrm>
            <a:off x="9048750" y="44196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Throughput and concurrency limits</a:t>
            </a:r>
            <a:endParaRPr sz="150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proof-note"/>
          <p:cNvSpPr>
            <a:spLocks noGrp="1"/>
          </p:cNvSpPr>
          <p:nvPr/>
        </p:nvSpPr>
        <p:spPr>
          <a:xfrm>
            <a:off x="2095500" y="59055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Maven is not available in the current rehearsal machine, so tests were not re-run here.</a:t>
            </a:r>
            <a:endParaRPr sz="12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31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kicker"/>
          <p:cNvSpPr>
            <a:spLocks noGrp="1"/>
          </p:cNvSpPr>
          <p:nvPr/>
        </p:nvSpPr>
        <p:spPr>
          <a:xfrm>
            <a:off x="609600" y="323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 · FINAL REHEARSAL</a:t>
            </a:r>
            <a:endParaRPr sz="112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858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4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Next: Stabilise, Measure, Then Scale</a:t>
            </a:r>
            <a:endParaRPr sz="34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itle-blue-rule"/>
          <p:cNvSpPr>
            <a:spLocks noGrp="1"/>
          </p:cNvSpPr>
          <p:nvPr/>
        </p:nvSpPr>
        <p:spPr>
          <a:xfrm>
            <a:off x="609600" y="1428750"/>
            <a:ext cx="15240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4" name="title-red-rule"/>
          <p:cNvSpPr>
            <a:spLocks noGrp="1"/>
          </p:cNvSpPr>
          <p:nvPr/>
        </p:nvSpPr>
        <p:spPr>
          <a:xfrm>
            <a:off x="2228850" y="1428750"/>
            <a:ext cx="68580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5" name="next-timeline"/>
          <p:cNvSpPr>
            <a:spLocks noGrp="1"/>
          </p:cNvSpPr>
          <p:nvPr/>
        </p:nvSpPr>
        <p:spPr>
          <a:xfrm>
            <a:off x="1238250" y="3238500"/>
            <a:ext cx="9334500" cy="286"/>
          </a:xfrm>
          <a:prstGeom prst="line">
            <a:avLst/>
          </a:prstGeom>
          <a:noFill/>
          <a:ln w="38100">
            <a:solidFill>
              <a:srgbClr val="1769E0"/>
            </a:solidFill>
            <a:prstDash val="solid"/>
          </a:ln>
        </p:spPr>
      </p:sp>
      <p:sp>
        <p:nvSpPr>
          <p:cNvPr id="6" name="next-dot-0"/>
          <p:cNvSpPr>
            <a:spLocks noGrp="1"/>
          </p:cNvSpPr>
          <p:nvPr/>
        </p:nvSpPr>
        <p:spPr>
          <a:xfrm>
            <a:off x="1809750" y="3105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13B46"/>
          </a:solidFill>
          <a:ln w="0">
            <a:solidFill>
              <a:srgbClr val="E13B46"/>
            </a:solidFill>
            <a:prstDash val="solid"/>
          </a:ln>
        </p:spPr>
      </p:sp>
      <p:sp>
        <p:nvSpPr>
          <p:cNvPr id="7" name="next-no-0"/>
          <p:cNvSpPr>
            <a:spLocks noGrp="1"/>
          </p:cNvSpPr>
          <p:nvPr/>
        </p:nvSpPr>
        <p:spPr>
          <a:xfrm>
            <a:off x="1638300" y="1809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next-title-0"/>
          <p:cNvSpPr>
            <a:spLocks noGrp="1"/>
          </p:cNvSpPr>
          <p:nvPr/>
        </p:nvSpPr>
        <p:spPr>
          <a:xfrm>
            <a:off x="895350" y="22669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STABILISE</a:t>
            </a:r>
            <a:endParaRPr sz="19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next-body-0"/>
          <p:cNvSpPr>
            <a:spLocks noGrp="1"/>
          </p:cNvSpPr>
          <p:nvPr/>
        </p:nvSpPr>
        <p:spPr>
          <a:xfrm>
            <a:off x="590550" y="3733800"/>
            <a:ext cx="27241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 code and docs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Move credentials to environment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Add reproducible build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next-dot-1"/>
          <p:cNvSpPr>
            <a:spLocks noGrp="1"/>
          </p:cNvSpPr>
          <p:nvPr/>
        </p:nvSpPr>
        <p:spPr>
          <a:xfrm>
            <a:off x="5095875" y="3105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next-no-1"/>
          <p:cNvSpPr>
            <a:spLocks noGrp="1"/>
          </p:cNvSpPr>
          <p:nvPr/>
        </p:nvSpPr>
        <p:spPr>
          <a:xfrm>
            <a:off x="4924425" y="1809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next-title-1"/>
          <p:cNvSpPr>
            <a:spLocks noGrp="1"/>
          </p:cNvSpPr>
          <p:nvPr/>
        </p:nvSpPr>
        <p:spPr>
          <a:xfrm>
            <a:off x="4181475" y="22669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MEASURE</a:t>
            </a:r>
            <a:endParaRPr sz="19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next-body-1"/>
          <p:cNvSpPr>
            <a:spLocks noGrp="1"/>
          </p:cNvSpPr>
          <p:nvPr/>
        </p:nvSpPr>
        <p:spPr>
          <a:xfrm>
            <a:off x="3876675" y="3733800"/>
            <a:ext cx="27241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 unit + integration tests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Benchmark realistic workloads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Profile database queries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next-dot-2"/>
          <p:cNvSpPr>
            <a:spLocks noGrp="1"/>
          </p:cNvSpPr>
          <p:nvPr/>
        </p:nvSpPr>
        <p:spPr>
          <a:xfrm>
            <a:off x="8382000" y="3105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3A75"/>
          </a:solidFill>
          <a:ln w="0">
            <a:solidFill>
              <a:srgbClr val="0B3A75"/>
            </a:solidFill>
            <a:prstDash val="solid"/>
          </a:ln>
        </p:spPr>
      </p:sp>
      <p:sp>
        <p:nvSpPr>
          <p:cNvPr id="15" name="next-no-2"/>
          <p:cNvSpPr>
            <a:spLocks noGrp="1"/>
          </p:cNvSpPr>
          <p:nvPr/>
        </p:nvSpPr>
        <p:spPr>
          <a:xfrm>
            <a:off x="8210550" y="1809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next-title-2"/>
          <p:cNvSpPr>
            <a:spLocks noGrp="1"/>
          </p:cNvSpPr>
          <p:nvPr/>
        </p:nvSpPr>
        <p:spPr>
          <a:xfrm>
            <a:off x="7467600" y="22669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SCALE</a:t>
            </a:r>
            <a:endParaRPr sz="19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next-body-2"/>
          <p:cNvSpPr>
            <a:spLocks noGrp="1"/>
          </p:cNvSpPr>
          <p:nvPr/>
        </p:nvSpPr>
        <p:spPr>
          <a:xfrm>
            <a:off x="7162800" y="3733800"/>
            <a:ext cx="27241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Cache active rules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Reduce per-rule queries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Add asynchronous processing</a:t>
            </a:r>
            <a:endParaRPr sz="142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next-risk"/>
          <p:cNvSpPr>
            <a:spLocks noGrp="1"/>
          </p:cNvSpPr>
          <p:nvPr/>
        </p:nvSpPr>
        <p:spPr>
          <a:xfrm>
            <a:off x="2990850" y="5467350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Priority risk: the current source contains environment-specific FX configuration.</a:t>
            </a:r>
            <a:endParaRPr sz="142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next-product"/>
          <p:cNvSpPr>
            <a:spLocks noGrp="1"/>
          </p:cNvSpPr>
          <p:nvPr/>
        </p:nvSpPr>
        <p:spPr>
          <a:xfrm>
            <a:off x="1619250" y="5943600"/>
            <a:ext cx="895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After the platform is stable: authentication, alert assignment, notifications and real-time updates.</a:t>
            </a:r>
            <a:endParaRPr sz="12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footer-line"/>
          <p:cNvSpPr>
            <a:spLocks noGrp="1"/>
          </p:cNvSpPr>
          <p:nvPr/>
        </p:nvSpPr>
        <p:spPr>
          <a:xfrm>
            <a:off x="609600" y="6429375"/>
            <a:ext cx="10972800" cy="286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</p:sp>
      <p:sp>
        <p:nvSpPr>
          <p:cNvPr id="21" name="footer-rac"/>
          <p:cNvSpPr>
            <a:spLocks noGrp="1"/>
          </p:cNvSpPr>
          <p:nvPr/>
        </p:nvSpPr>
        <p:spPr>
          <a:xfrm>
            <a:off x="609600" y="64960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1125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footer-tagline"/>
          <p:cNvSpPr>
            <a:spLocks noGrp="1"/>
          </p:cNvSpPr>
          <p:nvPr/>
        </p:nvSpPr>
        <p:spPr>
          <a:xfrm>
            <a:off x="1352550" y="64960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Transaction Monitoring &amp; Alerts Dashboard</a:t>
            </a:r>
            <a:endParaRPr sz="975" b="0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footer-page"/>
          <p:cNvSpPr>
            <a:spLocks noGrp="1"/>
          </p:cNvSpPr>
          <p:nvPr/>
        </p:nvSpPr>
        <p:spPr>
          <a:xfrm>
            <a:off x="11049000" y="64960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975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close-blue-v"/>
          <p:cNvSpPr>
            <a:spLocks noGrp="1"/>
          </p:cNvSpPr>
          <p:nvPr/>
        </p:nvSpPr>
        <p:spPr>
          <a:xfrm>
            <a:off x="723900" y="685800"/>
            <a:ext cx="286" cy="4953000"/>
          </a:xfrm>
          <a:prstGeom prst="line">
            <a:avLst/>
          </a:prstGeom>
          <a:noFill/>
          <a:ln w="57150">
            <a:solidFill>
              <a:srgbClr val="1769E0"/>
            </a:solidFill>
            <a:prstDash val="solid"/>
          </a:ln>
        </p:spPr>
      </p:sp>
      <p:sp>
        <p:nvSpPr>
          <p:cNvPr id="2" name="close-red-v"/>
          <p:cNvSpPr>
            <a:spLocks noGrp="1"/>
          </p:cNvSpPr>
          <p:nvPr/>
        </p:nvSpPr>
        <p:spPr>
          <a:xfrm>
            <a:off x="914400" y="685800"/>
            <a:ext cx="286" cy="3905250"/>
          </a:xfrm>
          <a:prstGeom prst="line">
            <a:avLst/>
          </a:prstGeom>
          <a:noFill/>
          <a:ln w="28575">
            <a:solidFill>
              <a:srgbClr val="E13B46"/>
            </a:solidFill>
            <a:prstDash val="solid"/>
          </a:ln>
        </p:spPr>
      </p:sp>
      <p:sp>
        <p:nvSpPr>
          <p:cNvPr id="3" name="close-rac"/>
          <p:cNvSpPr>
            <a:spLocks noGrp="1"/>
          </p:cNvSpPr>
          <p:nvPr/>
        </p:nvSpPr>
        <p:spPr>
          <a:xfrm>
            <a:off x="1485900" y="857250"/>
            <a:ext cx="4000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4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400" b="1">
                <a:solidFill>
                  <a:srgbClr val="0B3A7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RAC</a:t>
            </a:r>
            <a:endParaRPr sz="8400" b="1">
              <a:solidFill>
                <a:srgbClr val="0B3A7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close-title"/>
          <p:cNvSpPr>
            <a:spLocks noGrp="1"/>
          </p:cNvSpPr>
          <p:nvPr/>
        </p:nvSpPr>
        <p:spPr>
          <a:xfrm>
            <a:off x="1504950" y="2552700"/>
            <a:ext cx="828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7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 Traceable Flow,</a:t>
            </a:r>
            <a:endParaRPr sz="37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37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750" b="1">
                <a:solidFill>
                  <a:srgbClr val="0B1F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from Transaction to Resolution</a:t>
            </a:r>
            <a:endParaRPr sz="3750" b="1">
              <a:solidFill>
                <a:srgbClr val="0B1F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close-loop"/>
          <p:cNvSpPr>
            <a:spLocks noGrp="1"/>
          </p:cNvSpPr>
          <p:nvPr/>
        </p:nvSpPr>
        <p:spPr>
          <a:xfrm>
            <a:off x="1562100" y="440055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769E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CAPTURE  →  DETECT  →  ALERT  →  RESOLVE</a:t>
            </a:r>
            <a:endParaRPr sz="1875" b="1">
              <a:solidFill>
                <a:srgbClr val="1769E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close-flow-red"/>
          <p:cNvSpPr>
            <a:spLocks noGrp="1"/>
          </p:cNvSpPr>
          <p:nvPr/>
        </p:nvSpPr>
        <p:spPr>
          <a:xfrm>
            <a:off x="7696200" y="4638675"/>
            <a:ext cx="1619250" cy="286"/>
          </a:xfrm>
          <a:prstGeom prst="line">
            <a:avLst/>
          </a:prstGeom>
          <a:noFill/>
          <a:ln w="38100">
            <a:solidFill>
              <a:srgbClr val="E13B46"/>
            </a:solidFill>
            <a:prstDash val="solid"/>
          </a:ln>
        </p:spPr>
      </p:sp>
      <p:sp>
        <p:nvSpPr>
          <p:cNvPr id="7" name="close-thanks"/>
          <p:cNvSpPr>
            <a:spLocks noGrp="1"/>
          </p:cNvSpPr>
          <p:nvPr/>
        </p:nvSpPr>
        <p:spPr>
          <a:xfrm>
            <a:off x="1562100" y="54292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E13B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 — Questions?</a:t>
            </a:r>
            <a:endParaRPr sz="2550" b="1">
              <a:solidFill>
                <a:srgbClr val="E13B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lose-team"/>
          <p:cNvSpPr>
            <a:spLocks noGrp="1"/>
          </p:cNvSpPr>
          <p:nvPr/>
        </p:nvSpPr>
        <p:spPr>
          <a:xfrm>
            <a:off x="7810500" y="56197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75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E6D7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Annie · Chase · Ray</a:t>
            </a:r>
            <a:endParaRPr sz="1275" b="1">
              <a:solidFill>
                <a:srgbClr val="5E6D7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6358</Words>
  <Application>WPS 演示</Application>
  <PresentationFormat>Converted Presentation</PresentationFormat>
  <Paragraphs>546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朔风解意</cp:lastModifiedBy>
  <cp:revision>2</cp:revision>
  <dcterms:created xsi:type="dcterms:W3CDTF">2026-07-29T03:18:28Z</dcterms:created>
  <dcterms:modified xsi:type="dcterms:W3CDTF">2026-07-29T03:19:12Z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031F2DE4662247D4B501C81207B13D46_12</vt:lpwstr>
  </property>
</Properties>
</file>